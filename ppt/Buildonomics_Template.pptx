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316" r:id="rId5"/>
    <p:sldId id="268" r:id="rId6"/>
    <p:sldId id="311" r:id="rId7"/>
    <p:sldId id="312" r:id="rId8"/>
    <p:sldId id="313" r:id="rId9"/>
    <p:sldId id="314" r:id="rId10"/>
    <p:sldId id="317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86C6-1C94-4E4F-7FEF-F9D9B505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Instructions &amp; Best Practices (Delete Before Presenting)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7702-F999-A187-B4FA-7F8B5215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Keep it Concise:</a:t>
            </a:r>
            <a:r>
              <a:rPr lang="en-US" dirty="0"/>
              <a:t> Hackathon pitches are typically strict on time (often 3 to 5 minutes). Do not read your slides. Use them as visual anchors while you tell the story.</a:t>
            </a:r>
          </a:p>
          <a:p>
            <a:pPr lvl="0"/>
            <a:r>
              <a:rPr lang="en-US" b="1" dirty="0"/>
              <a:t>Address the Judging Criteria:</a:t>
            </a:r>
            <a:r>
              <a:rPr lang="en-US" dirty="0"/>
              <a:t> This deck is structured to explicitly answer what the judges are grading you on: Business Viability, Technical Complexity, Innovation, UX, and Pitch Quality.</a:t>
            </a:r>
          </a:p>
          <a:p>
            <a:pPr lvl="0"/>
            <a:r>
              <a:rPr lang="en-US" b="1" dirty="0"/>
              <a:t>Less Text, More Visuals:</a:t>
            </a:r>
            <a:r>
              <a:rPr lang="en-US" dirty="0"/>
              <a:t> Replace text with diagrams, screenshots, or user flows wherever possible. Avoid dense paragraphs.</a:t>
            </a:r>
          </a:p>
          <a:p>
            <a:pPr lvl="0"/>
            <a:r>
              <a:rPr lang="en-US" b="1" dirty="0"/>
              <a:t>Nail the Problem First:</a:t>
            </a:r>
            <a:r>
              <a:rPr lang="en-US" dirty="0"/>
              <a:t> If the judges do not understand the problem, they will not care about the solution. Make the pain point obvious within the first 60 seconds.</a:t>
            </a:r>
          </a:p>
          <a:p>
            <a:pPr lvl="0"/>
            <a:r>
              <a:rPr lang="en-US" b="1" dirty="0"/>
              <a:t>The Demo is King:</a:t>
            </a:r>
            <a:r>
              <a:rPr lang="en-US" dirty="0"/>
              <a:t> The slides are just the appetizer; your working prototype is the main course. Ensure your live demo (or pre-recorded video, if allowed and safer) focuses strictly on the core functionality. Do not waste time on login screens.</a:t>
            </a:r>
          </a:p>
          <a:p>
            <a:pPr lvl="0"/>
            <a:r>
              <a:rPr lang="en-US" b="1" dirty="0"/>
              <a:t>Be Honest About the Tech:</a:t>
            </a:r>
            <a:r>
              <a:rPr lang="en-US" dirty="0"/>
              <a:t> Distinguish clearly between what you actually built this weekend and what is a mockup or future plan. Judges will test your technical depth during the Q&amp;A.</a:t>
            </a:r>
          </a:p>
          <a:p>
            <a:pPr lvl="0"/>
            <a:r>
              <a:rPr lang="en-US" b="1" dirty="0"/>
              <a:t>Practice the Handoffs:</a:t>
            </a:r>
            <a:r>
              <a:rPr lang="en-US" dirty="0"/>
              <a:t> If multiple team members are speaking, practice your transitions so they are seamless.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4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pPr lvl="0"/>
            <a:r>
              <a:rPr lang="en-US" sz="7200" b="1" dirty="0"/>
              <a:t>Project Name / Logo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/>
              <a:t>Team Name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AD8EC96-C760-A4C4-FCA5-0AA72C92D4FA}"/>
              </a:ext>
            </a:extLst>
          </p:cNvPr>
          <p:cNvSpPr txBox="1">
            <a:spLocks/>
          </p:cNvSpPr>
          <p:nvPr/>
        </p:nvSpPr>
        <p:spPr>
          <a:xfrm>
            <a:off x="632898" y="5183488"/>
            <a:ext cx="6269347" cy="10214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One-Liner:</a:t>
            </a:r>
            <a:r>
              <a:rPr lang="en-US" dirty="0"/>
              <a:t> A clear, punchy sentence explaining exactly what the product does (e.g., "An AI-powered matching system that connects leftover banquet food with local shelters in real-time.")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93CC-5127-DFA3-9280-8E15E8C8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FA305-B46B-FA87-C807-AECEAAB3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The Pain Point:</a:t>
            </a:r>
            <a:r>
              <a:rPr lang="en-US" sz="2800" dirty="0"/>
              <a:t> What is the specific problem you are solving?</a:t>
            </a:r>
          </a:p>
          <a:p>
            <a:pPr lvl="0"/>
            <a:r>
              <a:rPr lang="en-US" sz="2800" b="1" dirty="0"/>
              <a:t>Target Audience:</a:t>
            </a:r>
            <a:r>
              <a:rPr lang="en-US" sz="2800" dirty="0"/>
              <a:t> Who feels this pain the most? Be specific (avoid "everyone").</a:t>
            </a:r>
          </a:p>
          <a:p>
            <a:pPr lvl="0"/>
            <a:r>
              <a:rPr lang="en-US" sz="2800" i="1" dirty="0"/>
              <a:t>Tip for teams: Tell a brief, relatable story here to hook the judges.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835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D936-6F46-0ED6-76B4-A9FC4E8F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95B3-19BC-31CC-412E-B7F705F0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EC53D-8512-FF7C-B1F8-4466FB83F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What it is:</a:t>
            </a:r>
            <a:r>
              <a:rPr lang="en-US" sz="2800" dirty="0"/>
              <a:t> Introduce your product as the direct answer to the problem.</a:t>
            </a:r>
          </a:p>
          <a:p>
            <a:pPr lvl="0"/>
            <a:r>
              <a:rPr lang="en-US" sz="2800" b="1" dirty="0"/>
              <a:t>Core Value:</a:t>
            </a:r>
            <a:r>
              <a:rPr lang="en-US" sz="2800" dirty="0"/>
              <a:t> How does it make the user's life easier, faster, or cheaper?</a:t>
            </a:r>
          </a:p>
          <a:p>
            <a:pPr lvl="0"/>
            <a:r>
              <a:rPr lang="en-US" sz="2800" b="1" dirty="0"/>
              <a:t>UX Focus:</a:t>
            </a:r>
            <a:r>
              <a:rPr lang="en-US" sz="2800" dirty="0"/>
              <a:t> Highlight that the design is intuitive and built for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13080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E160-E818-CD31-98C2-E05EF90E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6B0C-D23C-FBCC-90F2-C24A9E61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"Moat" / Competitive Advantage/Key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0567-637E-E5D9-E910-CE1E4C72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Current Alternatives:</a:t>
            </a:r>
            <a:r>
              <a:rPr lang="en-US" sz="2800" dirty="0"/>
              <a:t> How do people solve this problem today? (e.g., manual spreadsheets, bulky enterprise software).</a:t>
            </a:r>
          </a:p>
          <a:p>
            <a:pPr lvl="0"/>
            <a:r>
              <a:rPr lang="en-US" sz="2800" b="1" dirty="0"/>
              <a:t>Our Edge:</a:t>
            </a:r>
            <a:r>
              <a:rPr lang="en-US" sz="2800" dirty="0"/>
              <a:t> Why is your approach fresh? What is your unfair advantage? (e.g., "Unlike X, we use existing Y technology in a completely new way.")</a:t>
            </a:r>
          </a:p>
        </p:txBody>
      </p:sp>
    </p:spTree>
    <p:extLst>
      <p:ext uri="{BB962C8B-B14F-4D97-AF65-F5344CB8AC3E}">
        <p14:creationId xmlns:p14="http://schemas.microsoft.com/office/powerpoint/2010/main" val="153085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FC16-9628-355C-2310-A46BC157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D00A-29EC-0579-C601-5DB4625E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 the Hood/System Architecture &amp;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0E839-FD6D-20FB-4B01-80A31193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 sz="2800" b="1" dirty="0"/>
              <a:t>Tech Stack:</a:t>
            </a:r>
            <a:r>
              <a:rPr lang="en-US" sz="2800" dirty="0"/>
              <a:t> Simple diagram or logos of the frameworks, APIs, and databases used.</a:t>
            </a:r>
          </a:p>
          <a:p>
            <a:pPr lvl="0"/>
            <a:r>
              <a:rPr lang="en-US" sz="2800" b="1" dirty="0"/>
              <a:t>What We Actually Built:</a:t>
            </a:r>
            <a:r>
              <a:rPr lang="en-US" sz="2800" dirty="0"/>
              <a:t> Be honest about what works right now versus what is mocked up.</a:t>
            </a:r>
          </a:p>
          <a:p>
            <a:pPr lvl="0"/>
            <a:r>
              <a:rPr lang="en-US" sz="2800" b="1" dirty="0"/>
              <a:t>The Hard Part:</a:t>
            </a:r>
            <a:r>
              <a:rPr lang="en-US" sz="2800" dirty="0"/>
              <a:t> Highlight the most technically challenging thing you accomplished this weekend (e.g., "We trained a custom model on 10,000 data points").</a:t>
            </a:r>
          </a:p>
          <a:p>
            <a:pPr lvl="0"/>
            <a:r>
              <a:rPr lang="en-US" sz="2800" b="1" dirty="0"/>
              <a:t>Architecture Flow:</a:t>
            </a:r>
            <a:r>
              <a:rPr lang="en-US" sz="2800" dirty="0"/>
              <a:t> [Briefly describe the data flow: e.g., Client -&gt; API -&gt; Database -&gt; ML Model]</a:t>
            </a:r>
          </a:p>
          <a:p>
            <a:pPr lvl="0"/>
            <a:r>
              <a:rPr lang="en-US" sz="2800" b="1" dirty="0"/>
              <a:t>Frontend/Client:</a:t>
            </a:r>
            <a:r>
              <a:rPr lang="en-US" sz="2800" dirty="0"/>
              <a:t> [e.g., Next.js, React]</a:t>
            </a:r>
          </a:p>
          <a:p>
            <a:pPr lvl="0"/>
            <a:r>
              <a:rPr lang="en-US" sz="2800" b="1" dirty="0"/>
              <a:t>Backend/APIs:</a:t>
            </a:r>
            <a:r>
              <a:rPr lang="en-US" sz="2800" dirty="0"/>
              <a:t> [e.g., </a:t>
            </a:r>
            <a:r>
              <a:rPr lang="en-US" sz="2800" dirty="0" err="1"/>
              <a:t>FastAPI</a:t>
            </a:r>
            <a:r>
              <a:rPr lang="en-US" sz="2800" dirty="0"/>
              <a:t>, Go]</a:t>
            </a:r>
          </a:p>
          <a:p>
            <a:pPr lvl="0"/>
            <a:r>
              <a:rPr lang="en-US" sz="2800" b="1" dirty="0"/>
              <a:t>Database/Storage:</a:t>
            </a:r>
            <a:r>
              <a:rPr lang="en-US" sz="2800" dirty="0"/>
              <a:t> [e.g., PostgreSQL, Redis]</a:t>
            </a:r>
          </a:p>
          <a:p>
            <a:pPr lvl="0"/>
            <a:r>
              <a:rPr lang="en-US" sz="2800" b="1" dirty="0"/>
              <a:t>Core Logic/AI/Hardware:</a:t>
            </a:r>
            <a:r>
              <a:rPr lang="en-US" sz="2800" dirty="0"/>
              <a:t> [e.g., </a:t>
            </a:r>
            <a:r>
              <a:rPr lang="en-US" sz="2800" dirty="0" err="1"/>
              <a:t>LangChain</a:t>
            </a:r>
            <a:r>
              <a:rPr lang="en-US" sz="2800" dirty="0"/>
              <a:t>, ESP32, </a:t>
            </a:r>
            <a:r>
              <a:rPr lang="en-US" sz="2800" dirty="0" err="1"/>
              <a:t>PyTorch</a:t>
            </a:r>
            <a:r>
              <a:rPr lang="en-US" sz="2800" dirty="0"/>
              <a:t>]</a:t>
            </a:r>
          </a:p>
          <a:p>
            <a:pPr lvl="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719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EC86-C427-2B67-EFDB-EE18FB8EC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EF37-C3DC-2B00-5237-D09B8AA0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3228914" cy="1450757"/>
          </a:xfrm>
        </p:spPr>
        <p:txBody>
          <a:bodyPr/>
          <a:lstStyle/>
          <a:p>
            <a:r>
              <a:rPr lang="en-US" dirty="0"/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C64A-95D0-48A1-D2AA-5A617330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005662" cy="376089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Scalability:</a:t>
            </a:r>
            <a:r>
              <a:rPr lang="en-US" sz="2800" dirty="0"/>
              <a:t> [How the project can grow to handle more users/data]</a:t>
            </a:r>
          </a:p>
          <a:p>
            <a:pPr lvl="0"/>
            <a:r>
              <a:rPr lang="en-US" sz="2800" b="1" dirty="0"/>
              <a:t>Business Model/Use Case:</a:t>
            </a:r>
            <a:r>
              <a:rPr lang="en-US" sz="2800" dirty="0"/>
              <a:t> [How it can be applied in the real world or monetized]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064B63-3ED7-7E50-308F-3445C3E9C4A0}"/>
              </a:ext>
            </a:extLst>
          </p:cNvPr>
          <p:cNvSpPr txBox="1">
            <a:spLocks/>
          </p:cNvSpPr>
          <p:nvPr/>
        </p:nvSpPr>
        <p:spPr>
          <a:xfrm>
            <a:off x="7168700" y="263529"/>
            <a:ext cx="32289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Challenges &amp; Future Scope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E5738C-3AFA-0110-AB14-507076E4369F}"/>
              </a:ext>
            </a:extLst>
          </p:cNvPr>
          <p:cNvSpPr txBox="1">
            <a:spLocks/>
          </p:cNvSpPr>
          <p:nvPr/>
        </p:nvSpPr>
        <p:spPr>
          <a:xfrm>
            <a:off x="6780326" y="2108200"/>
            <a:ext cx="4005662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b="1" dirty="0"/>
              <a:t>What we overcame:</a:t>
            </a:r>
            <a:r>
              <a:rPr lang="en-US" sz="2800" dirty="0"/>
              <a:t> [One or two major technical roadblocks you solved]</a:t>
            </a:r>
          </a:p>
          <a:p>
            <a:pPr lvl="0"/>
            <a:r>
              <a:rPr lang="en-US" sz="2800" b="1" dirty="0"/>
              <a:t>Next Steps:</a:t>
            </a:r>
            <a:r>
              <a:rPr lang="en-US" sz="2800" dirty="0"/>
              <a:t> [Features you plan to add next]</a:t>
            </a:r>
          </a:p>
        </p:txBody>
      </p:sp>
    </p:spTree>
    <p:extLst>
      <p:ext uri="{BB962C8B-B14F-4D97-AF65-F5344CB8AC3E}">
        <p14:creationId xmlns:p14="http://schemas.microsoft.com/office/powerpoint/2010/main" val="153256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EBE5-D8BE-72BE-DDD8-C2A11AC51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QNA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5944C-B4E4-AAE2-6D53-DE6832171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8813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{EA378AD1-A8BD-4FEF-A982-BD36F2669DB8}TF427093bb-7ddc-497b-80f4-fe945bcee621ff7241c0_win32-add2936a5c77</Template>
  <TotalTime>11</TotalTime>
  <Words>666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1_RetrospectVTI</vt:lpstr>
      <vt:lpstr>Instructions &amp; Best Practices (Delete Before Presenting)</vt:lpstr>
      <vt:lpstr>Project Name / Logo</vt:lpstr>
      <vt:lpstr>The Problem</vt:lpstr>
      <vt:lpstr>The Solution</vt:lpstr>
      <vt:lpstr>The "Moat" / Competitive Advantage/Key Features</vt:lpstr>
      <vt:lpstr>Under the Hood/System Architecture &amp; Tech Stack</vt:lpstr>
      <vt:lpstr>Impact &amp; Feasibility</vt:lpstr>
      <vt:lpstr>QNA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Maneet Gupta</dc:creator>
  <cp:lastModifiedBy>Maneet Gupta</cp:lastModifiedBy>
  <cp:revision>3</cp:revision>
  <dcterms:created xsi:type="dcterms:W3CDTF">2026-09-16T09:08:57Z</dcterms:created>
  <dcterms:modified xsi:type="dcterms:W3CDTF">2026-09-16T09:21:07Z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