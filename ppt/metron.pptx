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derived from the supplied Isorropia idea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C0C9-502B-94CF-C663-095714EB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48B10-1F64-E066-FDF1-27C4995D8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76585-B04D-1D2B-1A1A-339AA3B7D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derived from the supplied Isorropia idea brief.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7B98D-1562-6616-8EB6-F31E1BB4D8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374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derived from the supplied Isorropia idea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derived from the supplied Isorropia idea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derived from the supplied Isorropia idea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derived from the supplied Isorropia idea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derived from the supplied Isorropia idea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derived from the supplied Isorropia idea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derived from the supplied Isorropia idea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derived from the supplied Isorropia idea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1"/>
            <a:ext cx="12192001" cy="685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/>
        </p:nvSpPr>
        <p:spPr>
          <a:xfrm>
            <a:off x="648929" y="639097"/>
            <a:ext cx="6253317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7200" b="1" dirty="0"/>
              <a:t>Metron</a:t>
            </a:r>
            <a:endParaRPr lang="en-US" sz="7200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/>
        </p:nvSpPr>
        <p:spPr>
          <a:xfrm>
            <a:off x="632899" y="4672739"/>
            <a:ext cx="6269347" cy="1021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1576"/>
            <a:ext cx="4635315" cy="6857999"/>
          </a:xfrm>
          <a:prstGeom prst="rect">
            <a:avLst/>
          </a:prstGeom>
        </p:spPr>
      </p:pic>
      <p:sp>
        <p:nvSpPr>
          <p:cNvPr id="29" name="Subtitle 2">
            <a:extLst>
              <a:ext uri="{FF2B5EF4-FFF2-40B4-BE49-F238E27FC236}">
                <a16:creationId xmlns:a16="http://schemas.microsoft.com/office/drawing/2014/main" id="{DAD8EC96-C760-A4C4-FCA5-0AA72C92D4FA}"/>
              </a:ext>
            </a:extLst>
          </p:cNvPr>
          <p:cNvSpPr txBox="1">
            <a:spLocks/>
          </p:cNvSpPr>
          <p:nvPr/>
        </p:nvSpPr>
        <p:spPr>
          <a:xfrm>
            <a:off x="632898" y="5183488"/>
            <a:ext cx="6269347" cy="102149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One-Liner:</a:t>
            </a:r>
            <a:r>
              <a:rPr lang="en-IN" dirty="0"/>
              <a:t> Turns user-defined DeFi goals and risk limits into cross-chain strategies that execute, hedge, monitor, and protect within those limits.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818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9C630-1836-3D70-14D1-7B862508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5EB2E2A-DCD5-CB93-5CE4-7701EADB90BA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2" name="slide-1-title">
            <a:extLst>
              <a:ext uri="{FF2B5EF4-FFF2-40B4-BE49-F238E27FC236}">
                <a16:creationId xmlns:a16="http://schemas.microsoft.com/office/drawing/2014/main" id="{74820459-2A08-DA64-5581-100C84E21873}"/>
              </a:ext>
            </a:extLst>
          </p:cNvPr>
          <p:cNvSpPr>
            <a:spLocks noGrp="1"/>
          </p:cNvSpPr>
          <p:nvPr/>
        </p:nvSpPr>
        <p:spPr>
          <a:xfrm>
            <a:off x="1095375" y="285750"/>
            <a:ext cx="100584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95250" tIns="0" rIns="95250" bIns="38100" anchor="b">
            <a:normAutofit/>
          </a:bodyPr>
          <a:lstStyle/>
          <a:p>
            <a:pPr algn="l">
              <a:def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Problem Statement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968AC5C-0706-9418-50F6-7F4641686781}"/>
              </a:ext>
            </a:extLst>
          </p:cNvPr>
          <p:cNvSpPr>
            <a:spLocks noGrp="1"/>
          </p:cNvSpPr>
          <p:nvPr/>
        </p:nvSpPr>
        <p:spPr>
          <a:xfrm>
            <a:off x="1190625" y="1895475"/>
            <a:ext cx="9963150" cy="0"/>
          </a:xfrm>
          <a:prstGeom prst="line">
            <a:avLst/>
          </a:prstGeom>
          <a:noFill/>
          <a:ln w="12668">
            <a:solidFill>
              <a:srgbClr val="8C8C8C"/>
            </a:solidFill>
            <a:prstDash val="solid"/>
          </a:ln>
        </p:spPr>
      </p:sp>
      <p:sp>
        <p:nvSpPr>
          <p:cNvPr id="4" name="slide-1-number">
            <a:extLst>
              <a:ext uri="{FF2B5EF4-FFF2-40B4-BE49-F238E27FC236}">
                <a16:creationId xmlns:a16="http://schemas.microsoft.com/office/drawing/2014/main" id="{3B7D10A3-8411-D40A-5E3C-A996A0902371}"/>
              </a:ext>
            </a:extLst>
          </p:cNvPr>
          <p:cNvSpPr>
            <a:spLocks noGrp="1"/>
          </p:cNvSpPr>
          <p:nvPr/>
        </p:nvSpPr>
        <p:spPr>
          <a:xfrm>
            <a:off x="10953750" y="65055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B9514-76BC-78CC-E92C-FF9018A35894}"/>
              </a:ext>
            </a:extLst>
          </p:cNvPr>
          <p:cNvSpPr>
            <a:spLocks noGrp="1"/>
          </p:cNvSpPr>
          <p:nvPr/>
        </p:nvSpPr>
        <p:spPr>
          <a:xfrm>
            <a:off x="1190625" y="2238375"/>
            <a:ext cx="51435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Advanced DeFi strategies span too many moving parts.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65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Users coordinate lending, liquidity, bridges, hedges, collateral ratios, gas, slippage, and rebalancing across separate applications.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47FDEC-B06B-2E3C-22D4-A347E022E2C8}"/>
              </a:ext>
            </a:extLst>
          </p:cNvPr>
          <p:cNvSpPr>
            <a:spLocks noGrp="1"/>
          </p:cNvSpPr>
          <p:nvPr/>
        </p:nvSpPr>
        <p:spPr>
          <a:xfrm>
            <a:off x="1190625" y="4191000"/>
            <a:ext cx="5143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Risk compounds at the portfolio level.</a:t>
            </a:r>
          </a:p>
          <a:p>
            <a:pPr algn="l">
              <a:spcBef>
                <a:spcPts val="800"/>
              </a:spcBef>
              <a:defRPr sz="165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A single ETH move can change liquidity composition, collateral value, hedge effectiveness, and liquidation probability at once.</a:t>
            </a:r>
          </a:p>
        </p:txBody>
      </p:sp>
      <p:sp>
        <p:nvSpPr>
          <p:cNvPr id="7" name="fragmented-label">
            <a:extLst>
              <a:ext uri="{FF2B5EF4-FFF2-40B4-BE49-F238E27FC236}">
                <a16:creationId xmlns:a16="http://schemas.microsoft.com/office/drawing/2014/main" id="{11D45A9A-AB66-EE35-5A03-F291FEC64C77}"/>
              </a:ext>
            </a:extLst>
          </p:cNvPr>
          <p:cNvSpPr>
            <a:spLocks noGrp="1"/>
          </p:cNvSpPr>
          <p:nvPr/>
        </p:nvSpPr>
        <p:spPr>
          <a:xfrm>
            <a:off x="6953250" y="2286000"/>
            <a:ext cx="3619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Fragmented positions</a:t>
            </a:r>
          </a:p>
        </p:txBody>
      </p:sp>
      <p:sp>
        <p:nvSpPr>
          <p:cNvPr id="8" name="user">
            <a:extLst>
              <a:ext uri="{FF2B5EF4-FFF2-40B4-BE49-F238E27FC236}">
                <a16:creationId xmlns:a16="http://schemas.microsoft.com/office/drawing/2014/main" id="{CD627CA0-A85A-E86E-695B-BF1DAD99B5E0}"/>
              </a:ext>
            </a:extLst>
          </p:cNvPr>
          <p:cNvSpPr>
            <a:spLocks noGrp="1"/>
          </p:cNvSpPr>
          <p:nvPr/>
        </p:nvSpPr>
        <p:spPr>
          <a:xfrm>
            <a:off x="6953250" y="3810000"/>
            <a:ext cx="1809750" cy="952500"/>
          </a:xfrm>
          <a:prstGeom prst="roundRect">
            <a:avLst>
              <a:gd name="adj" fmla="val 12000"/>
            </a:avLst>
          </a:prstGeom>
          <a:solidFill>
            <a:srgbClr val="252525"/>
          </a:solidFill>
          <a:ln w="14288">
            <a:solidFill>
              <a:srgbClr val="252525"/>
            </a:solidFill>
            <a:prstDash val="solid"/>
          </a:ln>
        </p:spPr>
      </p:sp>
      <p:sp>
        <p:nvSpPr>
          <p:cNvPr id="9" name="user-label">
            <a:extLst>
              <a:ext uri="{FF2B5EF4-FFF2-40B4-BE49-F238E27FC236}">
                <a16:creationId xmlns:a16="http://schemas.microsoft.com/office/drawing/2014/main" id="{6142F3CF-F19D-181A-0943-4D9BE06E64B3}"/>
              </a:ext>
            </a:extLst>
          </p:cNvPr>
          <p:cNvSpPr>
            <a:spLocks noGrp="1"/>
          </p:cNvSpPr>
          <p:nvPr/>
        </p:nvSpPr>
        <p:spPr>
          <a:xfrm>
            <a:off x="7096125" y="393382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User</a:t>
            </a:r>
          </a:p>
        </p:txBody>
      </p:sp>
      <p:sp>
        <p:nvSpPr>
          <p:cNvPr id="10" name="user-detail">
            <a:extLst>
              <a:ext uri="{FF2B5EF4-FFF2-40B4-BE49-F238E27FC236}">
                <a16:creationId xmlns:a16="http://schemas.microsoft.com/office/drawing/2014/main" id="{CD2FB1B0-C020-E7A2-0C87-255A4270CEC5}"/>
              </a:ext>
            </a:extLst>
          </p:cNvPr>
          <p:cNvSpPr>
            <a:spLocks noGrp="1"/>
          </p:cNvSpPr>
          <p:nvPr/>
        </p:nvSpPr>
        <p:spPr>
          <a:xfrm>
            <a:off x="7096125" y="426720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962"/>
          </a:bodyPr>
          <a:lstStyle/>
          <a:p>
            <a:pPr algn="ctr">
              <a:defRPr sz="1313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Must reconcile the full strategy</a:t>
            </a:r>
          </a:p>
        </p:txBody>
      </p:sp>
      <p:sp>
        <p:nvSpPr>
          <p:cNvPr id="11" name="lending">
            <a:extLst>
              <a:ext uri="{FF2B5EF4-FFF2-40B4-BE49-F238E27FC236}">
                <a16:creationId xmlns:a16="http://schemas.microsoft.com/office/drawing/2014/main" id="{8DFCA242-1CEE-00CF-86E9-F8E964B73F1B}"/>
              </a:ext>
            </a:extLst>
          </p:cNvPr>
          <p:cNvSpPr>
            <a:spLocks noGrp="1"/>
          </p:cNvSpPr>
          <p:nvPr/>
        </p:nvSpPr>
        <p:spPr>
          <a:xfrm>
            <a:off x="9191625" y="2428875"/>
            <a:ext cx="1666875" cy="685800"/>
          </a:xfrm>
          <a:prstGeom prst="roundRect">
            <a:avLst>
              <a:gd name="adj" fmla="val 16667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12" name="lending-label">
            <a:extLst>
              <a:ext uri="{FF2B5EF4-FFF2-40B4-BE49-F238E27FC236}">
                <a16:creationId xmlns:a16="http://schemas.microsoft.com/office/drawing/2014/main" id="{2BB08B80-AF2A-DBE2-0C62-A2B49353D601}"/>
              </a:ext>
            </a:extLst>
          </p:cNvPr>
          <p:cNvSpPr>
            <a:spLocks noGrp="1"/>
          </p:cNvSpPr>
          <p:nvPr/>
        </p:nvSpPr>
        <p:spPr>
          <a:xfrm>
            <a:off x="9334500" y="255270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Lending</a:t>
            </a:r>
          </a:p>
        </p:txBody>
      </p:sp>
      <p:sp>
        <p:nvSpPr>
          <p:cNvPr id="13" name="lending-detail">
            <a:extLst>
              <a:ext uri="{FF2B5EF4-FFF2-40B4-BE49-F238E27FC236}">
                <a16:creationId xmlns:a16="http://schemas.microsoft.com/office/drawing/2014/main" id="{6DBD5902-95E7-F3E0-872A-B06D3CBD3EAE}"/>
              </a:ext>
            </a:extLst>
          </p:cNvPr>
          <p:cNvSpPr>
            <a:spLocks noGrp="1"/>
          </p:cNvSpPr>
          <p:nvPr/>
        </p:nvSpPr>
        <p:spPr>
          <a:xfrm>
            <a:off x="9334500" y="2886075"/>
            <a:ext cx="1381125" cy="133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74141" lnSpcReduction="20000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Health factor</a:t>
            </a:r>
          </a:p>
        </p:txBody>
      </p:sp>
      <p:sp>
        <p:nvSpPr>
          <p:cNvPr id="14" name="liquidity">
            <a:extLst>
              <a:ext uri="{FF2B5EF4-FFF2-40B4-BE49-F238E27FC236}">
                <a16:creationId xmlns:a16="http://schemas.microsoft.com/office/drawing/2014/main" id="{A1D5EBC4-554A-242A-D9BF-C826A054BE01}"/>
              </a:ext>
            </a:extLst>
          </p:cNvPr>
          <p:cNvSpPr>
            <a:spLocks noGrp="1"/>
          </p:cNvSpPr>
          <p:nvPr/>
        </p:nvSpPr>
        <p:spPr>
          <a:xfrm>
            <a:off x="9191625" y="3333750"/>
            <a:ext cx="1666875" cy="685800"/>
          </a:xfrm>
          <a:prstGeom prst="roundRect">
            <a:avLst>
              <a:gd name="adj" fmla="val 16667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15" name="liquidity-label">
            <a:extLst>
              <a:ext uri="{FF2B5EF4-FFF2-40B4-BE49-F238E27FC236}">
                <a16:creationId xmlns:a16="http://schemas.microsoft.com/office/drawing/2014/main" id="{19946E7E-6B01-800B-D65C-0C89CDCDEA6F}"/>
              </a:ext>
            </a:extLst>
          </p:cNvPr>
          <p:cNvSpPr>
            <a:spLocks noGrp="1"/>
          </p:cNvSpPr>
          <p:nvPr/>
        </p:nvSpPr>
        <p:spPr>
          <a:xfrm>
            <a:off x="9334500" y="3457575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Liquidity</a:t>
            </a:r>
          </a:p>
        </p:txBody>
      </p:sp>
      <p:sp>
        <p:nvSpPr>
          <p:cNvPr id="16" name="liquidity-detail">
            <a:extLst>
              <a:ext uri="{FF2B5EF4-FFF2-40B4-BE49-F238E27FC236}">
                <a16:creationId xmlns:a16="http://schemas.microsoft.com/office/drawing/2014/main" id="{E85CD81D-7A70-24CC-3DA5-8EDE9D3158EC}"/>
              </a:ext>
            </a:extLst>
          </p:cNvPr>
          <p:cNvSpPr>
            <a:spLocks noGrp="1"/>
          </p:cNvSpPr>
          <p:nvPr/>
        </p:nvSpPr>
        <p:spPr>
          <a:xfrm>
            <a:off x="9334500" y="3790950"/>
            <a:ext cx="1381125" cy="133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74141" lnSpcReduction="20000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Range and IL</a:t>
            </a:r>
          </a:p>
        </p:txBody>
      </p:sp>
      <p:sp>
        <p:nvSpPr>
          <p:cNvPr id="17" name="hedge">
            <a:extLst>
              <a:ext uri="{FF2B5EF4-FFF2-40B4-BE49-F238E27FC236}">
                <a16:creationId xmlns:a16="http://schemas.microsoft.com/office/drawing/2014/main" id="{0431211A-6944-37ED-48CD-789836D02E67}"/>
              </a:ext>
            </a:extLst>
          </p:cNvPr>
          <p:cNvSpPr>
            <a:spLocks noGrp="1"/>
          </p:cNvSpPr>
          <p:nvPr/>
        </p:nvSpPr>
        <p:spPr>
          <a:xfrm>
            <a:off x="9191625" y="4238625"/>
            <a:ext cx="1666875" cy="685800"/>
          </a:xfrm>
          <a:prstGeom prst="roundRect">
            <a:avLst>
              <a:gd name="adj" fmla="val 16667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18" name="hedge-label">
            <a:extLst>
              <a:ext uri="{FF2B5EF4-FFF2-40B4-BE49-F238E27FC236}">
                <a16:creationId xmlns:a16="http://schemas.microsoft.com/office/drawing/2014/main" id="{FF34064F-82AA-588C-FF22-AA241FF09BE8}"/>
              </a:ext>
            </a:extLst>
          </p:cNvPr>
          <p:cNvSpPr>
            <a:spLocks noGrp="1"/>
          </p:cNvSpPr>
          <p:nvPr/>
        </p:nvSpPr>
        <p:spPr>
          <a:xfrm>
            <a:off x="9334500" y="436245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Hedge</a:t>
            </a:r>
          </a:p>
        </p:txBody>
      </p:sp>
      <p:sp>
        <p:nvSpPr>
          <p:cNvPr id="19" name="hedge-detail">
            <a:extLst>
              <a:ext uri="{FF2B5EF4-FFF2-40B4-BE49-F238E27FC236}">
                <a16:creationId xmlns:a16="http://schemas.microsoft.com/office/drawing/2014/main" id="{A8B57920-1739-931E-18BE-B74919331EFD}"/>
              </a:ext>
            </a:extLst>
          </p:cNvPr>
          <p:cNvSpPr>
            <a:spLocks noGrp="1"/>
          </p:cNvSpPr>
          <p:nvPr/>
        </p:nvSpPr>
        <p:spPr>
          <a:xfrm>
            <a:off x="9334500" y="4695825"/>
            <a:ext cx="1381125" cy="133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74141" lnSpcReduction="20000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Net delta</a:t>
            </a:r>
          </a:p>
        </p:txBody>
      </p:sp>
      <p:sp>
        <p:nvSpPr>
          <p:cNvPr id="20" name="chains">
            <a:extLst>
              <a:ext uri="{FF2B5EF4-FFF2-40B4-BE49-F238E27FC236}">
                <a16:creationId xmlns:a16="http://schemas.microsoft.com/office/drawing/2014/main" id="{F4809301-638A-08B7-CF81-1D93088EBDDF}"/>
              </a:ext>
            </a:extLst>
          </p:cNvPr>
          <p:cNvSpPr>
            <a:spLocks noGrp="1"/>
          </p:cNvSpPr>
          <p:nvPr/>
        </p:nvSpPr>
        <p:spPr>
          <a:xfrm>
            <a:off x="9191625" y="5143500"/>
            <a:ext cx="1666875" cy="685800"/>
          </a:xfrm>
          <a:prstGeom prst="roundRect">
            <a:avLst>
              <a:gd name="adj" fmla="val 16667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21" name="chains-label">
            <a:extLst>
              <a:ext uri="{FF2B5EF4-FFF2-40B4-BE49-F238E27FC236}">
                <a16:creationId xmlns:a16="http://schemas.microsoft.com/office/drawing/2014/main" id="{3F411DEF-D89F-A9BE-65D1-B6557D573EA9}"/>
              </a:ext>
            </a:extLst>
          </p:cNvPr>
          <p:cNvSpPr>
            <a:spLocks noGrp="1"/>
          </p:cNvSpPr>
          <p:nvPr/>
        </p:nvSpPr>
        <p:spPr>
          <a:xfrm>
            <a:off x="9334500" y="5267325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Chains</a:t>
            </a:r>
          </a:p>
        </p:txBody>
      </p:sp>
      <p:sp>
        <p:nvSpPr>
          <p:cNvPr id="22" name="chains-detail">
            <a:extLst>
              <a:ext uri="{FF2B5EF4-FFF2-40B4-BE49-F238E27FC236}">
                <a16:creationId xmlns:a16="http://schemas.microsoft.com/office/drawing/2014/main" id="{0CAF0449-CE86-42E7-F8F3-00841478B6DA}"/>
              </a:ext>
            </a:extLst>
          </p:cNvPr>
          <p:cNvSpPr>
            <a:spLocks noGrp="1"/>
          </p:cNvSpPr>
          <p:nvPr/>
        </p:nvSpPr>
        <p:spPr>
          <a:xfrm>
            <a:off x="9334500" y="5600700"/>
            <a:ext cx="1381125" cy="133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74141" lnSpcReduction="20000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Bridges and gas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BDE6A9-7A7E-E52F-DBC7-4968249DE6C6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8763000" y="2771775"/>
            <a:ext cx="428625" cy="1514475"/>
          </a:xfrm>
          <a:prstGeom prst="straightConnector1">
            <a:avLst/>
          </a:prstGeom>
          <a:ln w="14288">
            <a:solidFill>
              <a:srgbClr val="6B6B6B"/>
            </a:solidFill>
            <a:prstDash val="solid"/>
            <a:tailEnd type="triangle" w="sm" len="sm"/>
          </a:ln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5CBE6B7-5F24-8AA3-AFF7-67C5E3F1F31B}"/>
              </a:ext>
            </a:extLst>
          </p:cNvPr>
          <p:cNvCxnSpPr>
            <a:stCxn id="8" idx="3"/>
            <a:endCxn id="14" idx="1"/>
          </p:cNvCxnSpPr>
          <p:nvPr/>
        </p:nvCxnSpPr>
        <p:spPr>
          <a:xfrm flipV="1">
            <a:off x="8763000" y="3676650"/>
            <a:ext cx="428625" cy="609600"/>
          </a:xfrm>
          <a:prstGeom prst="straightConnector1">
            <a:avLst/>
          </a:prstGeom>
          <a:ln w="14288">
            <a:solidFill>
              <a:srgbClr val="6B6B6B"/>
            </a:solidFill>
            <a:prstDash val="solid"/>
            <a:tailEnd type="triangle" w="sm" len="sm"/>
          </a:ln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BAA10F6-95D5-D1E1-7E67-D2BB8E34C710}"/>
              </a:ext>
            </a:extLst>
          </p:cNvPr>
          <p:cNvCxnSpPr>
            <a:stCxn id="8" idx="3"/>
            <a:endCxn id="17" idx="1"/>
          </p:cNvCxnSpPr>
          <p:nvPr/>
        </p:nvCxnSpPr>
        <p:spPr>
          <a:xfrm>
            <a:off x="8763000" y="4286250"/>
            <a:ext cx="428625" cy="295275"/>
          </a:xfrm>
          <a:prstGeom prst="straightConnector1">
            <a:avLst/>
          </a:prstGeom>
          <a:ln w="14288">
            <a:solidFill>
              <a:srgbClr val="6B6B6B"/>
            </a:solidFill>
            <a:prstDash val="solid"/>
            <a:tailEnd type="triangle" w="sm" len="sm"/>
          </a:ln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A09D5FE-C7FA-D988-4757-BCB4A61759FF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8763000" y="4286250"/>
            <a:ext cx="428625" cy="1200150"/>
          </a:xfrm>
          <a:prstGeom prst="straightConnector1">
            <a:avLst/>
          </a:prstGeom>
          <a:ln w="14288">
            <a:solidFill>
              <a:srgbClr val="6B6B6B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903172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922F637-A1F6-44C3-BDA3-E30487AE4BA3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2" name="slide-2-title">
            <a:extLst>
              <a:ext uri="{FF2B5EF4-FFF2-40B4-BE49-F238E27FC236}">
                <a16:creationId xmlns:a16="http://schemas.microsoft.com/office/drawing/2014/main" id="{026BAE10-BB77-45E3-BD95-BED45DB39F65}"/>
              </a:ext>
            </a:extLst>
          </p:cNvPr>
          <p:cNvSpPr>
            <a:spLocks noGrp="1"/>
          </p:cNvSpPr>
          <p:nvPr/>
        </p:nvSpPr>
        <p:spPr>
          <a:xfrm>
            <a:off x="1095375" y="285750"/>
            <a:ext cx="100584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95250" tIns="0" rIns="95250" bIns="38100" anchor="b">
            <a:normAutofit/>
          </a:bodyPr>
          <a:lstStyle/>
          <a:p>
            <a:pPr algn="l">
              <a:def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The Solution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D0C832D-F96B-4983-9369-631B06500211}"/>
              </a:ext>
            </a:extLst>
          </p:cNvPr>
          <p:cNvSpPr>
            <a:spLocks noGrp="1"/>
          </p:cNvSpPr>
          <p:nvPr/>
        </p:nvSpPr>
        <p:spPr>
          <a:xfrm>
            <a:off x="1190625" y="1895475"/>
            <a:ext cx="9963150" cy="0"/>
          </a:xfrm>
          <a:prstGeom prst="line">
            <a:avLst/>
          </a:prstGeom>
          <a:noFill/>
          <a:ln w="12668">
            <a:solidFill>
              <a:srgbClr val="8C8C8C"/>
            </a:solidFill>
            <a:prstDash val="solid"/>
          </a:ln>
        </p:spPr>
      </p:sp>
      <p:sp>
        <p:nvSpPr>
          <p:cNvPr id="4" name="slide-2-number">
            <a:extLst>
              <a:ext uri="{FF2B5EF4-FFF2-40B4-BE49-F238E27FC236}">
                <a16:creationId xmlns:a16="http://schemas.microsoft.com/office/drawing/2014/main" id="{5B1F63F0-CB76-4515-86A4-D232D2B0C647}"/>
              </a:ext>
            </a:extLst>
          </p:cNvPr>
          <p:cNvSpPr>
            <a:spLocks noGrp="1"/>
          </p:cNvSpPr>
          <p:nvPr/>
        </p:nvSpPr>
        <p:spPr>
          <a:xfrm>
            <a:off x="10953750" y="65055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B9DE3-7D13-426E-97B7-5FEC386918C9}"/>
              </a:ext>
            </a:extLst>
          </p:cNvPr>
          <p:cNvSpPr>
            <a:spLocks noGrp="1"/>
          </p:cNvSpPr>
          <p:nvPr/>
        </p:nvSpPr>
        <p:spPr>
          <a:xfrm>
            <a:off x="1190625" y="2190750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800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One logical position, assembled from many DeFi components</a:t>
            </a:r>
          </a:p>
        </p:txBody>
      </p:sp>
      <p:sp>
        <p:nvSpPr>
          <p:cNvPr id="6" name="intent">
            <a:extLst>
              <a:ext uri="{FF2B5EF4-FFF2-40B4-BE49-F238E27FC236}">
                <a16:creationId xmlns:a16="http://schemas.microsoft.com/office/drawing/2014/main" id="{9A9E1351-C306-4426-930A-8856F0D2E1D0}"/>
              </a:ext>
            </a:extLst>
          </p:cNvPr>
          <p:cNvSpPr>
            <a:spLocks noGrp="1"/>
          </p:cNvSpPr>
          <p:nvPr/>
        </p:nvSpPr>
        <p:spPr>
          <a:xfrm>
            <a:off x="1190625" y="2952750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7" name="intent-label">
            <a:extLst>
              <a:ext uri="{FF2B5EF4-FFF2-40B4-BE49-F238E27FC236}">
                <a16:creationId xmlns:a16="http://schemas.microsoft.com/office/drawing/2014/main" id="{40D8870D-96F7-4220-B60A-F6F6048DA020}"/>
              </a:ext>
            </a:extLst>
          </p:cNvPr>
          <p:cNvSpPr>
            <a:spLocks noGrp="1"/>
          </p:cNvSpPr>
          <p:nvPr/>
        </p:nvSpPr>
        <p:spPr>
          <a:xfrm>
            <a:off x="1333500" y="307657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9502"/>
          </a:bodyPr>
          <a:lstStyle/>
          <a:p>
            <a:pPr algn="ctr">
              <a:def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Financial intent</a:t>
            </a:r>
          </a:p>
        </p:txBody>
      </p:sp>
      <p:sp>
        <p:nvSpPr>
          <p:cNvPr id="8" name="intent-detail">
            <a:extLst>
              <a:ext uri="{FF2B5EF4-FFF2-40B4-BE49-F238E27FC236}">
                <a16:creationId xmlns:a16="http://schemas.microsoft.com/office/drawing/2014/main" id="{3CA4BD79-663B-4399-93D2-51FD78BD4091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1524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467" lnSpcReduction="10000"/>
          </a:bodyPr>
          <a:lstStyle/>
          <a:p>
            <a:pPr algn="ctr">
              <a:defRPr sz="1275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75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“12% APY, &lt;5% drawdown, delta near zero”</a:t>
            </a:r>
          </a:p>
        </p:txBody>
      </p:sp>
      <p:sp>
        <p:nvSpPr>
          <p:cNvPr id="9" name="constraints">
            <a:extLst>
              <a:ext uri="{FF2B5EF4-FFF2-40B4-BE49-F238E27FC236}">
                <a16:creationId xmlns:a16="http://schemas.microsoft.com/office/drawing/2014/main" id="{6856A59B-8002-432D-BA14-C3F45314B94A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4288">
            <a:solidFill>
              <a:srgbClr val="777777"/>
            </a:solidFill>
            <a:prstDash val="solid"/>
          </a:ln>
        </p:spPr>
      </p:sp>
      <p:sp>
        <p:nvSpPr>
          <p:cNvPr id="10" name="constraints-label">
            <a:extLst>
              <a:ext uri="{FF2B5EF4-FFF2-40B4-BE49-F238E27FC236}">
                <a16:creationId xmlns:a16="http://schemas.microsoft.com/office/drawing/2014/main" id="{A9AF3D26-CD33-4ADF-9E86-5734C6DAD2D8}"/>
              </a:ext>
            </a:extLst>
          </p:cNvPr>
          <p:cNvSpPr>
            <a:spLocks noGrp="1"/>
          </p:cNvSpPr>
          <p:nvPr/>
        </p:nvSpPr>
        <p:spPr>
          <a:xfrm>
            <a:off x="3571875" y="307657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Constraints</a:t>
            </a:r>
          </a:p>
        </p:txBody>
      </p:sp>
      <p:sp>
        <p:nvSpPr>
          <p:cNvPr id="11" name="constraints-detail">
            <a:extLst>
              <a:ext uri="{FF2B5EF4-FFF2-40B4-BE49-F238E27FC236}">
                <a16:creationId xmlns:a16="http://schemas.microsoft.com/office/drawing/2014/main" id="{86D40996-FE5D-45D8-9776-E037A3F1017A}"/>
              </a:ext>
            </a:extLst>
          </p:cNvPr>
          <p:cNvSpPr>
            <a:spLocks noGrp="1"/>
          </p:cNvSpPr>
          <p:nvPr/>
        </p:nvSpPr>
        <p:spPr>
          <a:xfrm>
            <a:off x="3571875" y="3409950"/>
            <a:ext cx="1524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537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Risk, chain, protocol, automation limits</a:t>
            </a:r>
          </a:p>
        </p:txBody>
      </p:sp>
      <p:sp>
        <p:nvSpPr>
          <p:cNvPr id="12" name="solvers">
            <a:extLst>
              <a:ext uri="{FF2B5EF4-FFF2-40B4-BE49-F238E27FC236}">
                <a16:creationId xmlns:a16="http://schemas.microsoft.com/office/drawing/2014/main" id="{BC9F62EE-93BB-4343-9CB1-A6B465E3CB7C}"/>
              </a:ext>
            </a:extLst>
          </p:cNvPr>
          <p:cNvSpPr>
            <a:spLocks noGrp="1"/>
          </p:cNvSpPr>
          <p:nvPr/>
        </p:nvSpPr>
        <p:spPr>
          <a:xfrm>
            <a:off x="5667375" y="2952750"/>
            <a:ext cx="2047875" cy="1047750"/>
          </a:xfrm>
          <a:prstGeom prst="roundRect">
            <a:avLst>
              <a:gd name="adj" fmla="val 10909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13" name="solvers-label">
            <a:extLst>
              <a:ext uri="{FF2B5EF4-FFF2-40B4-BE49-F238E27FC236}">
                <a16:creationId xmlns:a16="http://schemas.microsoft.com/office/drawing/2014/main" id="{F57C92B6-9283-42BF-922A-613EA987673B}"/>
              </a:ext>
            </a:extLst>
          </p:cNvPr>
          <p:cNvSpPr>
            <a:spLocks noGrp="1"/>
          </p:cNvSpPr>
          <p:nvPr/>
        </p:nvSpPr>
        <p:spPr>
          <a:xfrm>
            <a:off x="5810250" y="3076575"/>
            <a:ext cx="1762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9470"/>
          </a:bodyPr>
          <a:lstStyle/>
          <a:p>
            <a:pPr algn="ctr">
              <a:def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Solver marketplace</a:t>
            </a:r>
          </a:p>
        </p:txBody>
      </p:sp>
      <p:sp>
        <p:nvSpPr>
          <p:cNvPr id="14" name="solvers-detail">
            <a:extLst>
              <a:ext uri="{FF2B5EF4-FFF2-40B4-BE49-F238E27FC236}">
                <a16:creationId xmlns:a16="http://schemas.microsoft.com/office/drawing/2014/main" id="{950FCDEF-5F70-44B6-9C35-14729075B90A}"/>
              </a:ext>
            </a:extLst>
          </p:cNvPr>
          <p:cNvSpPr>
            <a:spLocks noGrp="1"/>
          </p:cNvSpPr>
          <p:nvPr/>
        </p:nvSpPr>
        <p:spPr>
          <a:xfrm>
            <a:off x="5810250" y="3409950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570" lnSpcReduction="10000"/>
          </a:bodyPr>
          <a:lstStyle/>
          <a:p>
            <a:pPr algn="ctr">
              <a:def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Competing routes scored on yield, cost, liquidity, and risk</a:t>
            </a:r>
          </a:p>
        </p:txBody>
      </p:sp>
      <p:sp>
        <p:nvSpPr>
          <p:cNvPr id="15" name="execution">
            <a:extLst>
              <a:ext uri="{FF2B5EF4-FFF2-40B4-BE49-F238E27FC236}">
                <a16:creationId xmlns:a16="http://schemas.microsoft.com/office/drawing/2014/main" id="{9AE99092-5BD6-4F9A-97D7-AD1D6C8B9AE4}"/>
              </a:ext>
            </a:extLst>
          </p:cNvPr>
          <p:cNvSpPr>
            <a:spLocks noGrp="1"/>
          </p:cNvSpPr>
          <p:nvPr/>
        </p:nvSpPr>
        <p:spPr>
          <a:xfrm>
            <a:off x="8143875" y="2952750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4288">
            <a:solidFill>
              <a:srgbClr val="777777"/>
            </a:solidFill>
            <a:prstDash val="solid"/>
          </a:ln>
        </p:spPr>
      </p:sp>
      <p:sp>
        <p:nvSpPr>
          <p:cNvPr id="16" name="execution-label">
            <a:extLst>
              <a:ext uri="{FF2B5EF4-FFF2-40B4-BE49-F238E27FC236}">
                <a16:creationId xmlns:a16="http://schemas.microsoft.com/office/drawing/2014/main" id="{33BCEB51-7212-402D-B0A4-A5E955198686}"/>
              </a:ext>
            </a:extLst>
          </p:cNvPr>
          <p:cNvSpPr>
            <a:spLocks noGrp="1"/>
          </p:cNvSpPr>
          <p:nvPr/>
        </p:nvSpPr>
        <p:spPr>
          <a:xfrm>
            <a:off x="8286750" y="307657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Execution</a:t>
            </a:r>
          </a:p>
        </p:txBody>
      </p:sp>
      <p:sp>
        <p:nvSpPr>
          <p:cNvPr id="17" name="execution-detail">
            <a:extLst>
              <a:ext uri="{FF2B5EF4-FFF2-40B4-BE49-F238E27FC236}">
                <a16:creationId xmlns:a16="http://schemas.microsoft.com/office/drawing/2014/main" id="{6E38ADDF-68B9-46AD-8FB2-74B9E66DA42A}"/>
              </a:ext>
            </a:extLst>
          </p:cNvPr>
          <p:cNvSpPr>
            <a:spLocks noGrp="1"/>
          </p:cNvSpPr>
          <p:nvPr/>
        </p:nvSpPr>
        <p:spPr>
          <a:xfrm>
            <a:off x="8286750" y="3409950"/>
            <a:ext cx="1524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597" lnSpcReduction="10000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Lending, liquidity, hedge, cross-chain routing</a:t>
            </a:r>
          </a:p>
        </p:txBody>
      </p:sp>
      <p:sp>
        <p:nvSpPr>
          <p:cNvPr id="18" name="monitor">
            <a:extLst>
              <a:ext uri="{FF2B5EF4-FFF2-40B4-BE49-F238E27FC236}">
                <a16:creationId xmlns:a16="http://schemas.microsoft.com/office/drawing/2014/main" id="{FFC5F7AD-CC10-495E-8FAF-AFAA9F38BE1C}"/>
              </a:ext>
            </a:extLst>
          </p:cNvPr>
          <p:cNvSpPr>
            <a:spLocks noGrp="1"/>
          </p:cNvSpPr>
          <p:nvPr/>
        </p:nvSpPr>
        <p:spPr>
          <a:xfrm>
            <a:off x="10287000" y="2952750"/>
            <a:ext cx="1143000" cy="1047750"/>
          </a:xfrm>
          <a:prstGeom prst="roundRect">
            <a:avLst>
              <a:gd name="adj" fmla="val 10909"/>
            </a:avLst>
          </a:prstGeom>
          <a:solidFill>
            <a:srgbClr val="252525"/>
          </a:solidFill>
          <a:ln w="14288">
            <a:solidFill>
              <a:srgbClr val="252525"/>
            </a:solidFill>
            <a:prstDash val="solid"/>
          </a:ln>
        </p:spPr>
      </p:sp>
      <p:sp>
        <p:nvSpPr>
          <p:cNvPr id="19" name="monitor-label">
            <a:extLst>
              <a:ext uri="{FF2B5EF4-FFF2-40B4-BE49-F238E27FC236}">
                <a16:creationId xmlns:a16="http://schemas.microsoft.com/office/drawing/2014/main" id="{B1D6BA45-3931-49EB-ACDF-C60B38F467ED}"/>
              </a:ext>
            </a:extLst>
          </p:cNvPr>
          <p:cNvSpPr>
            <a:spLocks noGrp="1"/>
          </p:cNvSpPr>
          <p:nvPr/>
        </p:nvSpPr>
        <p:spPr>
          <a:xfrm>
            <a:off x="10429875" y="3076575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64318" lnSpcReduction="20000"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Monitor and protect</a:t>
            </a:r>
          </a:p>
        </p:txBody>
      </p:sp>
      <p:sp>
        <p:nvSpPr>
          <p:cNvPr id="20" name="monitor-detail">
            <a:extLst>
              <a:ext uri="{FF2B5EF4-FFF2-40B4-BE49-F238E27FC236}">
                <a16:creationId xmlns:a16="http://schemas.microsoft.com/office/drawing/2014/main" id="{8F25CD77-4144-4463-8D64-DC2A37134D89}"/>
              </a:ext>
            </a:extLst>
          </p:cNvPr>
          <p:cNvSpPr>
            <a:spLocks noGrp="1"/>
          </p:cNvSpPr>
          <p:nvPr/>
        </p:nvSpPr>
        <p:spPr>
          <a:xfrm>
            <a:off x="10429875" y="3409950"/>
            <a:ext cx="857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4862" lnSpcReduction="20000"/>
          </a:bodyPr>
          <a:lstStyle/>
          <a:p>
            <a:pPr algn="ctr">
              <a:defRPr sz="1163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163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Unified view, rebalancing, recovery, circuit breaker</a:t>
            </a:r>
          </a:p>
        </p:txBody>
      </p:sp>
      <p:cxnSp>
        <p:nvCxnSpPr>
          <p:cNvPr id="47" name="Straight Arrow Connector 46"/>
          <p:cNvCxnSpPr>
            <a:stCxn id="6" idx="3"/>
            <a:endCxn id="9" idx="1"/>
          </p:cNvCxnSpPr>
          <p:nvPr/>
        </p:nvCxnSpPr>
        <p:spPr>
          <a:xfrm>
            <a:off x="3000375" y="3476625"/>
            <a:ext cx="428625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48" name="Straight Arrow Connector 47"/>
          <p:cNvCxnSpPr>
            <a:stCxn id="9" idx="3"/>
            <a:endCxn id="12" idx="1"/>
          </p:cNvCxnSpPr>
          <p:nvPr/>
        </p:nvCxnSpPr>
        <p:spPr>
          <a:xfrm>
            <a:off x="5238750" y="3476625"/>
            <a:ext cx="428625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49" name="Straight Arrow Connector 48"/>
          <p:cNvCxnSpPr>
            <a:stCxn id="12" idx="3"/>
            <a:endCxn id="15" idx="1"/>
          </p:cNvCxnSpPr>
          <p:nvPr/>
        </p:nvCxnSpPr>
        <p:spPr>
          <a:xfrm>
            <a:off x="7715250" y="3476625"/>
            <a:ext cx="428625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50" name="Straight Arrow Connector 49"/>
          <p:cNvCxnSpPr>
            <a:stCxn id="15" idx="3"/>
            <a:endCxn id="18" idx="1"/>
          </p:cNvCxnSpPr>
          <p:nvPr/>
        </p:nvCxnSpPr>
        <p:spPr>
          <a:xfrm>
            <a:off x="9953625" y="3476625"/>
            <a:ext cx="333375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454C2C28-4E1E-4451-A287-A2D475B60749}"/>
              </a:ext>
            </a:extLst>
          </p:cNvPr>
          <p:cNvSpPr>
            <a:spLocks noGrp="1"/>
          </p:cNvSpPr>
          <p:nvPr/>
        </p:nvSpPr>
        <p:spPr>
          <a:xfrm>
            <a:off x="1619250" y="4905375"/>
            <a:ext cx="9096375" cy="0"/>
          </a:xfrm>
          <a:prstGeom prst="line">
            <a:avLst/>
          </a:prstGeom>
          <a:noFill/>
          <a:ln w="12383">
            <a:solidFill>
              <a:srgbClr val="8C8C8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2AA6C6-3BD3-4896-8E48-4818631D71DE}"/>
              </a:ext>
            </a:extLst>
          </p:cNvPr>
          <p:cNvSpPr>
            <a:spLocks noGrp="1"/>
          </p:cNvSpPr>
          <p:nvPr/>
        </p:nvSpPr>
        <p:spPr>
          <a:xfrm>
            <a:off x="1571625" y="5191125"/>
            <a:ext cx="9144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0"/>
              </a:spcAft>
              <a:defRPr sz="1463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463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User control</a:t>
            </a:r>
            <a:r>
              <a:rPr sz="1463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The user defines the outcome, limits, and allowed automation.</a:t>
            </a:r>
          </a:p>
          <a:p>
            <a:pPr algn="l">
              <a:spcBef>
                <a:spcPts val="650"/>
              </a:spcBef>
              <a:defRPr sz="1463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463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System responsibility</a:t>
            </a:r>
            <a:r>
              <a:rPr sz="1463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The system searches, executes, monitors, and protects within those limits.</a:t>
            </a:r>
          </a:p>
        </p:txBody>
      </p:sp>
    </p:spTree>
    <p:extLst>
      <p:ext uri="{BB962C8B-B14F-4D97-AF65-F5344CB8AC3E}">
        <p14:creationId xmlns:p14="http://schemas.microsoft.com/office/powerpoint/2010/main" val="1871349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3DAA44-71B7-47A8-B584-975622F59E6C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2" name="slide-3-title">
            <a:extLst>
              <a:ext uri="{FF2B5EF4-FFF2-40B4-BE49-F238E27FC236}">
                <a16:creationId xmlns:a16="http://schemas.microsoft.com/office/drawing/2014/main" id="{92059F0E-0F3C-45CF-98B1-6D0466C90766}"/>
              </a:ext>
            </a:extLst>
          </p:cNvPr>
          <p:cNvSpPr>
            <a:spLocks noGrp="1"/>
          </p:cNvSpPr>
          <p:nvPr/>
        </p:nvSpPr>
        <p:spPr>
          <a:xfrm>
            <a:off x="1095375" y="285750"/>
            <a:ext cx="100584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95250" tIns="0" rIns="95250" bIns="38100" anchor="b">
            <a:normAutofit/>
          </a:bodyPr>
          <a:lstStyle/>
          <a:p>
            <a:pPr algn="l">
              <a:def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Features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31997B6-A127-4F9E-9E0B-80D4144670F3}"/>
              </a:ext>
            </a:extLst>
          </p:cNvPr>
          <p:cNvSpPr>
            <a:spLocks noGrp="1"/>
          </p:cNvSpPr>
          <p:nvPr/>
        </p:nvSpPr>
        <p:spPr>
          <a:xfrm>
            <a:off x="1190625" y="1895475"/>
            <a:ext cx="9963150" cy="0"/>
          </a:xfrm>
          <a:prstGeom prst="line">
            <a:avLst/>
          </a:prstGeom>
          <a:noFill/>
          <a:ln w="12668">
            <a:solidFill>
              <a:srgbClr val="8C8C8C"/>
            </a:solidFill>
            <a:prstDash val="solid"/>
          </a:ln>
        </p:spPr>
      </p:sp>
      <p:sp>
        <p:nvSpPr>
          <p:cNvPr id="4" name="slide-3-number">
            <a:extLst>
              <a:ext uri="{FF2B5EF4-FFF2-40B4-BE49-F238E27FC236}">
                <a16:creationId xmlns:a16="http://schemas.microsoft.com/office/drawing/2014/main" id="{06461511-554D-4114-9EFE-8B520E82E2D5}"/>
              </a:ext>
            </a:extLst>
          </p:cNvPr>
          <p:cNvSpPr>
            <a:spLocks noGrp="1"/>
          </p:cNvSpPr>
          <p:nvPr/>
        </p:nvSpPr>
        <p:spPr>
          <a:xfrm>
            <a:off x="10953750" y="65055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03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E76CF69-3A60-4536-B744-07DFC97E5FA8}"/>
              </a:ext>
            </a:extLst>
          </p:cNvPr>
          <p:cNvSpPr>
            <a:spLocks noGrp="1"/>
          </p:cNvSpPr>
          <p:nvPr/>
        </p:nvSpPr>
        <p:spPr>
          <a:xfrm>
            <a:off x="6096000" y="2190750"/>
            <a:ext cx="0" cy="3714750"/>
          </a:xfrm>
          <a:prstGeom prst="line">
            <a:avLst/>
          </a:prstGeom>
          <a:noFill/>
          <a:ln w="10478">
            <a:solidFill>
              <a:srgbClr val="8C8C8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D178F0-EDB3-477C-A219-A4461920EF0A}"/>
              </a:ext>
            </a:extLst>
          </p:cNvPr>
          <p:cNvSpPr>
            <a:spLocks noGrp="1"/>
          </p:cNvSpPr>
          <p:nvPr/>
        </p:nvSpPr>
        <p:spPr>
          <a:xfrm>
            <a:off x="1190625" y="228600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Intent and strategy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0BD96-67AE-4916-A85D-0BA030823FAE}"/>
              </a:ext>
            </a:extLst>
          </p:cNvPr>
          <p:cNvSpPr>
            <a:spLocks noGrp="1"/>
          </p:cNvSpPr>
          <p:nvPr/>
        </p:nvSpPr>
        <p:spPr>
          <a:xfrm>
            <a:off x="1190625" y="2628900"/>
            <a:ext cx="4381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Natural-language or structured intents with target yield, drawdown, delta, chain, and protocol constraints.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220E85-B633-469C-BC94-2F88815E0C8E}"/>
              </a:ext>
            </a:extLst>
          </p:cNvPr>
          <p:cNvSpPr>
            <a:spLocks noGrp="1"/>
          </p:cNvSpPr>
          <p:nvPr/>
        </p:nvSpPr>
        <p:spPr>
          <a:xfrm>
            <a:off x="1190625" y="352425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Risk and automation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56DA4D-0D6E-440A-AB1B-1262D2CF929F}"/>
              </a:ext>
            </a:extLst>
          </p:cNvPr>
          <p:cNvSpPr>
            <a:spLocks noGrp="1"/>
          </p:cNvSpPr>
          <p:nvPr/>
        </p:nvSpPr>
        <p:spPr>
          <a:xfrm>
            <a:off x="1190625" y="3867150"/>
            <a:ext cx="4381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Predictive liquidation risk, dynamic thresholds, bounded rebalancing, and user-approved recovery.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328BBE-FE1F-429F-9D9C-5A2AFD893FB6}"/>
              </a:ext>
            </a:extLst>
          </p:cNvPr>
          <p:cNvSpPr>
            <a:spLocks noGrp="1"/>
          </p:cNvSpPr>
          <p:nvPr/>
        </p:nvSpPr>
        <p:spPr>
          <a:xfrm>
            <a:off x="1190625" y="476250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Cross-chain DeFi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EE5020-1428-4EAE-9171-034C50EC6BA7}"/>
              </a:ext>
            </a:extLst>
          </p:cNvPr>
          <p:cNvSpPr>
            <a:spLocks noGrp="1"/>
          </p:cNvSpPr>
          <p:nvPr/>
        </p:nvSpPr>
        <p:spPr>
          <a:xfrm>
            <a:off x="1190625" y="5105400"/>
            <a:ext cx="4381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Unified strategies spanning lending, liquidity, hedging, bridges, and chain-level status.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C62867-73A6-49EA-A436-E05B2B259C11}"/>
              </a:ext>
            </a:extLst>
          </p:cNvPr>
          <p:cNvSpPr>
            <a:spLocks noGrp="1"/>
          </p:cNvSpPr>
          <p:nvPr/>
        </p:nvSpPr>
        <p:spPr>
          <a:xfrm>
            <a:off x="6572250" y="228600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Privacy and explainability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420F5A-CB4F-42BA-9134-66DD2D93666E}"/>
              </a:ext>
            </a:extLst>
          </p:cNvPr>
          <p:cNvSpPr>
            <a:spLocks noGrp="1"/>
          </p:cNvSpPr>
          <p:nvPr/>
        </p:nvSpPr>
        <p:spPr>
          <a:xfrm>
            <a:off x="6572250" y="2628900"/>
            <a:ext cx="4381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Private commitments where useful, plus a clear split between observed data, calculations, predictions, and assumptions.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4819D-ACA1-426C-93F4-8EA9B70DFCEA}"/>
              </a:ext>
            </a:extLst>
          </p:cNvPr>
          <p:cNvSpPr>
            <a:spLocks noGrp="1"/>
          </p:cNvSpPr>
          <p:nvPr/>
        </p:nvSpPr>
        <p:spPr>
          <a:xfrm>
            <a:off x="6572250" y="352425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Position intelligence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6F106E-1CFD-43E0-9D25-6F1C4F24519B}"/>
              </a:ext>
            </a:extLst>
          </p:cNvPr>
          <p:cNvSpPr>
            <a:spLocks noGrp="1"/>
          </p:cNvSpPr>
          <p:nvPr/>
        </p:nvSpPr>
        <p:spPr>
          <a:xfrm>
            <a:off x="6572250" y="3867150"/>
            <a:ext cx="4381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One logical portfolio view with APY, delta, health factor, liquidity exposure, regime, and activity history.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88A768-2B33-4F25-A9D8-DB9C629F785A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Protection controls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36FF39-4360-43C1-852E-3486783323C1}"/>
              </a:ext>
            </a:extLst>
          </p:cNvPr>
          <p:cNvSpPr>
            <a:spLocks noGrp="1"/>
          </p:cNvSpPr>
          <p:nvPr/>
        </p:nvSpPr>
        <p:spPr>
          <a:xfrm>
            <a:off x="6572250" y="5105400"/>
            <a:ext cx="4381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Circuit breaker, liquidity-aware execution, stablecoin and protocol monitoring, and emergency unwind paths.</a:t>
            </a:r>
          </a:p>
        </p:txBody>
      </p:sp>
    </p:spTree>
    <p:extLst>
      <p:ext uri="{BB962C8B-B14F-4D97-AF65-F5344CB8AC3E}">
        <p14:creationId xmlns:p14="http://schemas.microsoft.com/office/powerpoint/2010/main" val="174703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AACB9E1-DA9F-4A58-AC6E-4765E2453972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2" name="slide-4-title">
            <a:extLst>
              <a:ext uri="{FF2B5EF4-FFF2-40B4-BE49-F238E27FC236}">
                <a16:creationId xmlns:a16="http://schemas.microsoft.com/office/drawing/2014/main" id="{EA7B8A6F-9F8C-451F-BC74-A303689DACD7}"/>
              </a:ext>
            </a:extLst>
          </p:cNvPr>
          <p:cNvSpPr>
            <a:spLocks noGrp="1"/>
          </p:cNvSpPr>
          <p:nvPr/>
        </p:nvSpPr>
        <p:spPr>
          <a:xfrm>
            <a:off x="1095375" y="285750"/>
            <a:ext cx="100584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95250" tIns="0" rIns="95250" bIns="38100" anchor="b">
            <a:normAutofit/>
          </a:bodyPr>
          <a:lstStyle/>
          <a:p>
            <a:pPr algn="l">
              <a:def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MVP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FC19F00-81E5-4B7F-8AAB-2A6B8DB7899E}"/>
              </a:ext>
            </a:extLst>
          </p:cNvPr>
          <p:cNvSpPr>
            <a:spLocks noGrp="1"/>
          </p:cNvSpPr>
          <p:nvPr/>
        </p:nvSpPr>
        <p:spPr>
          <a:xfrm>
            <a:off x="1190625" y="1895475"/>
            <a:ext cx="9963150" cy="0"/>
          </a:xfrm>
          <a:prstGeom prst="line">
            <a:avLst/>
          </a:prstGeom>
          <a:noFill/>
          <a:ln w="12668">
            <a:solidFill>
              <a:srgbClr val="8C8C8C"/>
            </a:solidFill>
            <a:prstDash val="solid"/>
          </a:ln>
        </p:spPr>
      </p:sp>
      <p:sp>
        <p:nvSpPr>
          <p:cNvPr id="4" name="slide-4-number">
            <a:extLst>
              <a:ext uri="{FF2B5EF4-FFF2-40B4-BE49-F238E27FC236}">
                <a16:creationId xmlns:a16="http://schemas.microsoft.com/office/drawing/2014/main" id="{9C1E2922-5A18-4A09-94FE-E705CBD6DA06}"/>
              </a:ext>
            </a:extLst>
          </p:cNvPr>
          <p:cNvSpPr>
            <a:spLocks noGrp="1"/>
          </p:cNvSpPr>
          <p:nvPr/>
        </p:nvSpPr>
        <p:spPr>
          <a:xfrm>
            <a:off x="10953750" y="65055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5DBF3-63B7-431F-B724-0A442C2C870D}"/>
              </a:ext>
            </a:extLst>
          </p:cNvPr>
          <p:cNvSpPr>
            <a:spLocks noGrp="1"/>
          </p:cNvSpPr>
          <p:nvPr/>
        </p:nvSpPr>
        <p:spPr>
          <a:xfrm>
            <a:off x="1190625" y="2190750"/>
            <a:ext cx="933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725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The MVP proves the full strategy lifecycle with a focused protocol surface</a:t>
            </a:r>
          </a:p>
        </p:txBody>
      </p:sp>
      <p:sp>
        <p:nvSpPr>
          <p:cNvPr id="6" name="mvp-create">
            <a:extLst>
              <a:ext uri="{FF2B5EF4-FFF2-40B4-BE49-F238E27FC236}">
                <a16:creationId xmlns:a16="http://schemas.microsoft.com/office/drawing/2014/main" id="{2637CCFF-8AAF-4873-8635-6486581DDC19}"/>
              </a:ext>
            </a:extLst>
          </p:cNvPr>
          <p:cNvSpPr>
            <a:spLocks noGrp="1"/>
          </p:cNvSpPr>
          <p:nvPr/>
        </p:nvSpPr>
        <p:spPr>
          <a:xfrm>
            <a:off x="1190625" y="2952750"/>
            <a:ext cx="1714500" cy="838200"/>
          </a:xfrm>
          <a:prstGeom prst="roundRect">
            <a:avLst>
              <a:gd name="adj" fmla="val 13636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7" name="mvp-create-label">
            <a:extLst>
              <a:ext uri="{FF2B5EF4-FFF2-40B4-BE49-F238E27FC236}">
                <a16:creationId xmlns:a16="http://schemas.microsoft.com/office/drawing/2014/main" id="{78688DCB-D191-40A9-98B3-37244C6BA77F}"/>
              </a:ext>
            </a:extLst>
          </p:cNvPr>
          <p:cNvSpPr>
            <a:spLocks noGrp="1"/>
          </p:cNvSpPr>
          <p:nvPr/>
        </p:nvSpPr>
        <p:spPr>
          <a:xfrm>
            <a:off x="1333500" y="30765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1  Create intent</a:t>
            </a:r>
          </a:p>
        </p:txBody>
      </p:sp>
      <p:sp>
        <p:nvSpPr>
          <p:cNvPr id="8" name="mvp-create-detail">
            <a:extLst>
              <a:ext uri="{FF2B5EF4-FFF2-40B4-BE49-F238E27FC236}">
                <a16:creationId xmlns:a16="http://schemas.microsoft.com/office/drawing/2014/main" id="{ECFC6980-C5E8-4C6C-A92B-64B44F4BBD0F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4338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Wallet, capital, limits</a:t>
            </a:r>
          </a:p>
        </p:txBody>
      </p:sp>
      <p:sp>
        <p:nvSpPr>
          <p:cNvPr id="9" name="mvp-compare">
            <a:extLst>
              <a:ext uri="{FF2B5EF4-FFF2-40B4-BE49-F238E27FC236}">
                <a16:creationId xmlns:a16="http://schemas.microsoft.com/office/drawing/2014/main" id="{7F583A40-2C9D-44AF-AC76-870978F262DA}"/>
              </a:ext>
            </a:extLst>
          </p:cNvPr>
          <p:cNvSpPr>
            <a:spLocks noGrp="1"/>
          </p:cNvSpPr>
          <p:nvPr/>
        </p:nvSpPr>
        <p:spPr>
          <a:xfrm>
            <a:off x="3238500" y="2952750"/>
            <a:ext cx="1714500" cy="838200"/>
          </a:xfrm>
          <a:prstGeom prst="roundRect">
            <a:avLst>
              <a:gd name="adj" fmla="val 13636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10" name="mvp-compare-label">
            <a:extLst>
              <a:ext uri="{FF2B5EF4-FFF2-40B4-BE49-F238E27FC236}">
                <a16:creationId xmlns:a16="http://schemas.microsoft.com/office/drawing/2014/main" id="{AE1070B8-2234-4841-8BD3-E2575F0C18E6}"/>
              </a:ext>
            </a:extLst>
          </p:cNvPr>
          <p:cNvSpPr>
            <a:spLocks noGrp="1"/>
          </p:cNvSpPr>
          <p:nvPr/>
        </p:nvSpPr>
        <p:spPr>
          <a:xfrm>
            <a:off x="3381375" y="30765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2812"/>
          </a:bodyPr>
          <a:lstStyle/>
          <a:p>
            <a:pPr algn="ctr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2  Compare routes</a:t>
            </a:r>
          </a:p>
        </p:txBody>
      </p:sp>
      <p:sp>
        <p:nvSpPr>
          <p:cNvPr id="11" name="mvp-compare-detail">
            <a:extLst>
              <a:ext uri="{FF2B5EF4-FFF2-40B4-BE49-F238E27FC236}">
                <a16:creationId xmlns:a16="http://schemas.microsoft.com/office/drawing/2014/main" id="{6811CBA5-1FF3-4B4A-993C-E451736D2623}"/>
              </a:ext>
            </a:extLst>
          </p:cNvPr>
          <p:cNvSpPr>
            <a:spLocks noGrp="1"/>
          </p:cNvSpPr>
          <p:nvPr/>
        </p:nvSpPr>
        <p:spPr>
          <a:xfrm>
            <a:off x="3381375" y="3409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965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At least two solvers</a:t>
            </a:r>
          </a:p>
        </p:txBody>
      </p:sp>
      <p:sp>
        <p:nvSpPr>
          <p:cNvPr id="12" name="mvp-deploy">
            <a:extLst>
              <a:ext uri="{FF2B5EF4-FFF2-40B4-BE49-F238E27FC236}">
                <a16:creationId xmlns:a16="http://schemas.microsoft.com/office/drawing/2014/main" id="{6EDD1BA4-1A8A-4FA9-B12D-B80F43777D45}"/>
              </a:ext>
            </a:extLst>
          </p:cNvPr>
          <p:cNvSpPr>
            <a:spLocks noGrp="1"/>
          </p:cNvSpPr>
          <p:nvPr/>
        </p:nvSpPr>
        <p:spPr>
          <a:xfrm>
            <a:off x="5286375" y="2952750"/>
            <a:ext cx="1714500" cy="838200"/>
          </a:xfrm>
          <a:prstGeom prst="roundRect">
            <a:avLst>
              <a:gd name="adj" fmla="val 13636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13" name="mvp-deploy-label">
            <a:extLst>
              <a:ext uri="{FF2B5EF4-FFF2-40B4-BE49-F238E27FC236}">
                <a16:creationId xmlns:a16="http://schemas.microsoft.com/office/drawing/2014/main" id="{05ADC852-BFF8-4AE4-B162-306B247C50D1}"/>
              </a:ext>
            </a:extLst>
          </p:cNvPr>
          <p:cNvSpPr>
            <a:spLocks noGrp="1"/>
          </p:cNvSpPr>
          <p:nvPr/>
        </p:nvSpPr>
        <p:spPr>
          <a:xfrm>
            <a:off x="5429250" y="30765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3  Deploy</a:t>
            </a:r>
          </a:p>
        </p:txBody>
      </p:sp>
      <p:sp>
        <p:nvSpPr>
          <p:cNvPr id="14" name="mvp-deploy-detail">
            <a:extLst>
              <a:ext uri="{FF2B5EF4-FFF2-40B4-BE49-F238E27FC236}">
                <a16:creationId xmlns:a16="http://schemas.microsoft.com/office/drawing/2014/main" id="{4EE2ED3B-9C14-4B8C-B9BC-C813B58C6E13}"/>
              </a:ext>
            </a:extLst>
          </p:cNvPr>
          <p:cNvSpPr>
            <a:spLocks noGrp="1"/>
          </p:cNvSpPr>
          <p:nvPr/>
        </p:nvSpPr>
        <p:spPr>
          <a:xfrm>
            <a:off x="5429250" y="3409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7112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Lending, liquidity, hedge</a:t>
            </a:r>
          </a:p>
        </p:txBody>
      </p:sp>
      <p:sp>
        <p:nvSpPr>
          <p:cNvPr id="15" name="mvp-stress">
            <a:extLst>
              <a:ext uri="{FF2B5EF4-FFF2-40B4-BE49-F238E27FC236}">
                <a16:creationId xmlns:a16="http://schemas.microsoft.com/office/drawing/2014/main" id="{3568DA16-796F-4190-BFF8-00CE148B84A7}"/>
              </a:ext>
            </a:extLst>
          </p:cNvPr>
          <p:cNvSpPr>
            <a:spLocks noGrp="1"/>
          </p:cNvSpPr>
          <p:nvPr/>
        </p:nvSpPr>
        <p:spPr>
          <a:xfrm>
            <a:off x="7334250" y="2952750"/>
            <a:ext cx="1714500" cy="838200"/>
          </a:xfrm>
          <a:prstGeom prst="roundRect">
            <a:avLst>
              <a:gd name="adj" fmla="val 13636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16" name="mvp-stress-label">
            <a:extLst>
              <a:ext uri="{FF2B5EF4-FFF2-40B4-BE49-F238E27FC236}">
                <a16:creationId xmlns:a16="http://schemas.microsoft.com/office/drawing/2014/main" id="{C70893D9-49E5-45DF-A594-0A5127EE9219}"/>
              </a:ext>
            </a:extLst>
          </p:cNvPr>
          <p:cNvSpPr>
            <a:spLocks noGrp="1"/>
          </p:cNvSpPr>
          <p:nvPr/>
        </p:nvSpPr>
        <p:spPr>
          <a:xfrm>
            <a:off x="7477125" y="30765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4  Stress</a:t>
            </a:r>
          </a:p>
        </p:txBody>
      </p:sp>
      <p:sp>
        <p:nvSpPr>
          <p:cNvPr id="17" name="mvp-stress-detail">
            <a:extLst>
              <a:ext uri="{FF2B5EF4-FFF2-40B4-BE49-F238E27FC236}">
                <a16:creationId xmlns:a16="http://schemas.microsoft.com/office/drawing/2014/main" id="{E342412C-CE7E-4FDE-A900-5836496AA077}"/>
              </a:ext>
            </a:extLst>
          </p:cNvPr>
          <p:cNvSpPr>
            <a:spLocks noGrp="1"/>
          </p:cNvSpPr>
          <p:nvPr/>
        </p:nvSpPr>
        <p:spPr>
          <a:xfrm>
            <a:off x="7477125" y="3409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3725" lnSpcReduction="20000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Introduce a market shock</a:t>
            </a:r>
          </a:p>
        </p:txBody>
      </p:sp>
      <p:sp>
        <p:nvSpPr>
          <p:cNvPr id="18" name="mvp-recover">
            <a:extLst>
              <a:ext uri="{FF2B5EF4-FFF2-40B4-BE49-F238E27FC236}">
                <a16:creationId xmlns:a16="http://schemas.microsoft.com/office/drawing/2014/main" id="{E3D4A1B7-7B1C-40BF-B05E-FD323C86DF56}"/>
              </a:ext>
            </a:extLst>
          </p:cNvPr>
          <p:cNvSpPr>
            <a:spLocks noGrp="1"/>
          </p:cNvSpPr>
          <p:nvPr/>
        </p:nvSpPr>
        <p:spPr>
          <a:xfrm>
            <a:off x="9382125" y="2952750"/>
            <a:ext cx="1714500" cy="838200"/>
          </a:xfrm>
          <a:prstGeom prst="roundRect">
            <a:avLst>
              <a:gd name="adj" fmla="val 13636"/>
            </a:avLst>
          </a:prstGeom>
          <a:solidFill>
            <a:srgbClr val="252525"/>
          </a:solidFill>
          <a:ln w="14288">
            <a:solidFill>
              <a:srgbClr val="252525"/>
            </a:solidFill>
            <a:prstDash val="solid"/>
          </a:ln>
        </p:spPr>
      </p:sp>
      <p:sp>
        <p:nvSpPr>
          <p:cNvPr id="19" name="mvp-recover-label">
            <a:extLst>
              <a:ext uri="{FF2B5EF4-FFF2-40B4-BE49-F238E27FC236}">
                <a16:creationId xmlns:a16="http://schemas.microsoft.com/office/drawing/2014/main" id="{2E6C0436-102B-427F-9F48-99458BD4BED2}"/>
              </a:ext>
            </a:extLst>
          </p:cNvPr>
          <p:cNvSpPr>
            <a:spLocks noGrp="1"/>
          </p:cNvSpPr>
          <p:nvPr/>
        </p:nvSpPr>
        <p:spPr>
          <a:xfrm>
            <a:off x="9525000" y="30765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5  Recover</a:t>
            </a:r>
          </a:p>
        </p:txBody>
      </p:sp>
      <p:sp>
        <p:nvSpPr>
          <p:cNvPr id="20" name="mvp-recover-detail">
            <a:extLst>
              <a:ext uri="{FF2B5EF4-FFF2-40B4-BE49-F238E27FC236}">
                <a16:creationId xmlns:a16="http://schemas.microsoft.com/office/drawing/2014/main" id="{E15DE15E-BE3E-4E73-AFA4-D0A1990B1F15}"/>
              </a:ext>
            </a:extLst>
          </p:cNvPr>
          <p:cNvSpPr>
            <a:spLocks noGrp="1"/>
          </p:cNvSpPr>
          <p:nvPr/>
        </p:nvSpPr>
        <p:spPr>
          <a:xfrm>
            <a:off x="9525000" y="3409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6401" lnSpcReduction="20000"/>
          </a:bodyPr>
          <a:lstStyle/>
          <a:p>
            <a:pPr algn="ctr">
              <a:defRPr sz="1313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Rank and execute valid action</a:t>
            </a:r>
          </a:p>
        </p:txBody>
      </p:sp>
      <p:cxnSp>
        <p:nvCxnSpPr>
          <p:cNvPr id="46" name="Straight Arrow Connector 45"/>
          <p:cNvCxnSpPr>
            <a:stCxn id="6" idx="3"/>
            <a:endCxn id="9" idx="1"/>
          </p:cNvCxnSpPr>
          <p:nvPr/>
        </p:nvCxnSpPr>
        <p:spPr>
          <a:xfrm>
            <a:off x="2905125" y="3371850"/>
            <a:ext cx="333375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47" name="Straight Arrow Connector 46"/>
          <p:cNvCxnSpPr>
            <a:stCxn id="9" idx="3"/>
            <a:endCxn id="12" idx="1"/>
          </p:cNvCxnSpPr>
          <p:nvPr/>
        </p:nvCxnSpPr>
        <p:spPr>
          <a:xfrm>
            <a:off x="4953000" y="3371850"/>
            <a:ext cx="333375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48" name="Straight Arrow Connector 47"/>
          <p:cNvCxnSpPr>
            <a:stCxn id="12" idx="3"/>
            <a:endCxn id="15" idx="1"/>
          </p:cNvCxnSpPr>
          <p:nvPr/>
        </p:nvCxnSpPr>
        <p:spPr>
          <a:xfrm>
            <a:off x="7000875" y="3371850"/>
            <a:ext cx="333375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49" name="Straight Arrow Connector 48"/>
          <p:cNvCxnSpPr>
            <a:stCxn id="15" idx="3"/>
            <a:endCxn id="18" idx="1"/>
          </p:cNvCxnSpPr>
          <p:nvPr/>
        </p:nvCxnSpPr>
        <p:spPr>
          <a:xfrm>
            <a:off x="9048750" y="3371850"/>
            <a:ext cx="333375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AE2F7-59E5-4149-B66C-DEEB39EB457C}"/>
              </a:ext>
            </a:extLst>
          </p:cNvPr>
          <p:cNvSpPr>
            <a:spLocks noGrp="1"/>
          </p:cNvSpPr>
          <p:nvPr/>
        </p:nvSpPr>
        <p:spPr>
          <a:xfrm>
            <a:off x="1190625" y="4619625"/>
            <a:ext cx="9906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425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Included in the demo</a:t>
            </a:r>
          </a:p>
          <a:p>
            <a:pPr algn="l">
              <a:spcBef>
                <a:spcPts val="600"/>
              </a:spcBef>
              <a:defRPr sz="1425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425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Wallet connection, intent parsing, risk controls, solver comparison, a working cross-chain route, unified dashboard, liquidation-risk prediction, stress simulation, explainable output, simulated or authorized recovery, and an emergency circuit breaker.</a:t>
            </a:r>
          </a:p>
        </p:txBody>
      </p:sp>
    </p:spTree>
    <p:extLst>
      <p:ext uri="{BB962C8B-B14F-4D97-AF65-F5344CB8AC3E}">
        <p14:creationId xmlns:p14="http://schemas.microsoft.com/office/powerpoint/2010/main" val="62334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D6DBDCC-5552-4EBE-98F1-E41F78EF8597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2" name="slide-5-title">
            <a:extLst>
              <a:ext uri="{FF2B5EF4-FFF2-40B4-BE49-F238E27FC236}">
                <a16:creationId xmlns:a16="http://schemas.microsoft.com/office/drawing/2014/main" id="{77A5096E-8920-4E27-8085-22FCEEF6B8D8}"/>
              </a:ext>
            </a:extLst>
          </p:cNvPr>
          <p:cNvSpPr>
            <a:spLocks noGrp="1"/>
          </p:cNvSpPr>
          <p:nvPr/>
        </p:nvSpPr>
        <p:spPr>
          <a:xfrm>
            <a:off x="1095375" y="285750"/>
            <a:ext cx="100584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95250" tIns="0" rIns="95250" bIns="38100" anchor="b">
            <a:normAutofit/>
          </a:bodyPr>
          <a:lstStyle/>
          <a:p>
            <a:pPr algn="l">
              <a:def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USP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DA6E28C-3C6C-4EDF-8966-81DABEC5BACA}"/>
              </a:ext>
            </a:extLst>
          </p:cNvPr>
          <p:cNvSpPr>
            <a:spLocks noGrp="1"/>
          </p:cNvSpPr>
          <p:nvPr/>
        </p:nvSpPr>
        <p:spPr>
          <a:xfrm>
            <a:off x="1190625" y="1895475"/>
            <a:ext cx="9963150" cy="0"/>
          </a:xfrm>
          <a:prstGeom prst="line">
            <a:avLst/>
          </a:prstGeom>
          <a:noFill/>
          <a:ln w="12668">
            <a:solidFill>
              <a:srgbClr val="8C8C8C"/>
            </a:solidFill>
            <a:prstDash val="solid"/>
          </a:ln>
        </p:spPr>
      </p:sp>
      <p:sp>
        <p:nvSpPr>
          <p:cNvPr id="4" name="slide-5-number">
            <a:extLst>
              <a:ext uri="{FF2B5EF4-FFF2-40B4-BE49-F238E27FC236}">
                <a16:creationId xmlns:a16="http://schemas.microsoft.com/office/drawing/2014/main" id="{C9EE581C-0D7F-40FB-BF1F-BC363C62628B}"/>
              </a:ext>
            </a:extLst>
          </p:cNvPr>
          <p:cNvSpPr>
            <a:spLocks noGrp="1"/>
          </p:cNvSpPr>
          <p:nvPr/>
        </p:nvSpPr>
        <p:spPr>
          <a:xfrm>
            <a:off x="10953750" y="65055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9A5157-1972-4B72-8039-8F7E28BC3005}"/>
              </a:ext>
            </a:extLst>
          </p:cNvPr>
          <p:cNvSpPr>
            <a:spLocks noGrp="1"/>
          </p:cNvSpPr>
          <p:nvPr/>
        </p:nvSpPr>
        <p:spPr>
          <a:xfrm>
            <a:off x="1190625" y="2190750"/>
            <a:ext cx="962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8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8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Isorropia coordinates the full strategy instead of optimizing one protocol at a time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7A6380-25B4-40EF-99E4-F939C9EBD6DD}"/>
              </a:ext>
            </a:extLst>
          </p:cNvPr>
          <p:cNvSpPr>
            <a:spLocks noGrp="1"/>
          </p:cNvSpPr>
          <p:nvPr/>
        </p:nvSpPr>
        <p:spPr>
          <a:xfrm>
            <a:off x="1190625" y="2857500"/>
            <a:ext cx="9525000" cy="419100"/>
          </a:xfrm>
          <a:prstGeom prst="rect">
            <a:avLst/>
          </a:prstGeom>
          <a:solidFill>
            <a:srgbClr val="252525"/>
          </a:solidFill>
          <a:ln w="0">
            <a:solidFill>
              <a:srgbClr val="252525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FCB572-DC1E-422C-A3EC-6E8F8CEE1FFF}"/>
              </a:ext>
            </a:extLst>
          </p:cNvPr>
          <p:cNvSpPr>
            <a:spLocks noGrp="1"/>
          </p:cNvSpPr>
          <p:nvPr/>
        </p:nvSpPr>
        <p:spPr>
          <a:xfrm>
            <a:off x="1333500" y="2952750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Dimension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EE0130-0CB5-484C-8071-9FD59A28833B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3476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Manual DeFi stack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B1669B-C89A-4489-89CC-B385DF2D71BC}"/>
              </a:ext>
            </a:extLst>
          </p:cNvPr>
          <p:cNvSpPr>
            <a:spLocks noGrp="1"/>
          </p:cNvSpPr>
          <p:nvPr/>
        </p:nvSpPr>
        <p:spPr>
          <a:xfrm>
            <a:off x="7143750" y="2952750"/>
            <a:ext cx="3476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Isorropia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F0AD87-E5A6-4D04-87B5-84B031B10DD7}"/>
              </a:ext>
            </a:extLst>
          </p:cNvPr>
          <p:cNvSpPr>
            <a:spLocks noGrp="1"/>
          </p:cNvSpPr>
          <p:nvPr/>
        </p:nvSpPr>
        <p:spPr>
          <a:xfrm>
            <a:off x="1190625" y="3276600"/>
            <a:ext cx="9525000" cy="504825"/>
          </a:xfrm>
          <a:prstGeom prst="rect">
            <a:avLst/>
          </a:prstGeom>
          <a:solidFill>
            <a:srgbClr val="FFFFFF"/>
          </a:solidFill>
          <a:ln w="7144">
            <a:solidFill>
              <a:srgbClr val="B5B5B5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2D09BBE-6B98-428E-862F-3345D749511F}"/>
              </a:ext>
            </a:extLst>
          </p:cNvPr>
          <p:cNvSpPr>
            <a:spLocks noGrp="1"/>
          </p:cNvSpPr>
          <p:nvPr/>
        </p:nvSpPr>
        <p:spPr>
          <a:xfrm>
            <a:off x="3286125" y="3276600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83B8BA0-B6FA-4662-8D14-99EC6594BE97}"/>
              </a:ext>
            </a:extLst>
          </p:cNvPr>
          <p:cNvSpPr>
            <a:spLocks noGrp="1"/>
          </p:cNvSpPr>
          <p:nvPr/>
        </p:nvSpPr>
        <p:spPr>
          <a:xfrm>
            <a:off x="7000875" y="3276600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31FA0-DB82-44F9-AE03-88091381E875}"/>
              </a:ext>
            </a:extLst>
          </p:cNvPr>
          <p:cNvSpPr>
            <a:spLocks noGrp="1"/>
          </p:cNvSpPr>
          <p:nvPr/>
        </p:nvSpPr>
        <p:spPr>
          <a:xfrm>
            <a:off x="1333500" y="3390900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Optimization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87B457-14B9-41DB-AA37-AEA55EABDA2C}"/>
              </a:ext>
            </a:extLst>
          </p:cNvPr>
          <p:cNvSpPr>
            <a:spLocks noGrp="1"/>
          </p:cNvSpPr>
          <p:nvPr/>
        </p:nvSpPr>
        <p:spPr>
          <a:xfrm>
            <a:off x="3429000" y="3381375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Protocol-by-protocol decisions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A36836-9241-4A6E-A9EA-39E82118B1F6}"/>
              </a:ext>
            </a:extLst>
          </p:cNvPr>
          <p:cNvSpPr>
            <a:spLocks noGrp="1"/>
          </p:cNvSpPr>
          <p:nvPr/>
        </p:nvSpPr>
        <p:spPr>
          <a:xfrm>
            <a:off x="7143750" y="3381375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Outcome plus constraints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0B977A-A241-436A-A07C-2C7D94EA46B8}"/>
              </a:ext>
            </a:extLst>
          </p:cNvPr>
          <p:cNvSpPr>
            <a:spLocks noGrp="1"/>
          </p:cNvSpPr>
          <p:nvPr/>
        </p:nvSpPr>
        <p:spPr>
          <a:xfrm>
            <a:off x="1190625" y="3781425"/>
            <a:ext cx="9525000" cy="504825"/>
          </a:xfrm>
          <a:prstGeom prst="rect">
            <a:avLst/>
          </a:prstGeom>
          <a:solidFill>
            <a:srgbClr val="F5F5F3"/>
          </a:solidFill>
          <a:ln w="7144">
            <a:solidFill>
              <a:srgbClr val="B5B5B5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306C92B-F56E-4142-B88D-8F51A2BA5D72}"/>
              </a:ext>
            </a:extLst>
          </p:cNvPr>
          <p:cNvSpPr>
            <a:spLocks noGrp="1"/>
          </p:cNvSpPr>
          <p:nvPr/>
        </p:nvSpPr>
        <p:spPr>
          <a:xfrm>
            <a:off x="3286125" y="3781425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6825A13-C1FB-493D-BB7A-F6DB437F0324}"/>
              </a:ext>
            </a:extLst>
          </p:cNvPr>
          <p:cNvSpPr>
            <a:spLocks noGrp="1"/>
          </p:cNvSpPr>
          <p:nvPr/>
        </p:nvSpPr>
        <p:spPr>
          <a:xfrm>
            <a:off x="7000875" y="3781425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5817C3-4E90-4F99-909B-DDF3D9A1FBA0}"/>
              </a:ext>
            </a:extLst>
          </p:cNvPr>
          <p:cNvSpPr>
            <a:spLocks noGrp="1"/>
          </p:cNvSpPr>
          <p:nvPr/>
        </p:nvSpPr>
        <p:spPr>
          <a:xfrm>
            <a:off x="1333500" y="389572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Risk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41DACB-0E28-4164-8B4A-616AF9D99669}"/>
              </a:ext>
            </a:extLst>
          </p:cNvPr>
          <p:cNvSpPr>
            <a:spLocks noGrp="1"/>
          </p:cNvSpPr>
          <p:nvPr/>
        </p:nvSpPr>
        <p:spPr>
          <a:xfrm>
            <a:off x="3429000" y="3886200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Separate dashboards and thresholds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946ACC-6D76-46B3-9980-72C6CA19476D}"/>
              </a:ext>
            </a:extLst>
          </p:cNvPr>
          <p:cNvSpPr>
            <a:spLocks noGrp="1"/>
          </p:cNvSpPr>
          <p:nvPr/>
        </p:nvSpPr>
        <p:spPr>
          <a:xfrm>
            <a:off x="7143750" y="3886200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Portfolio-level risk and recovery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3FF7F1-500D-47A0-91F6-032B0D55E69D}"/>
              </a:ext>
            </a:extLst>
          </p:cNvPr>
          <p:cNvSpPr>
            <a:spLocks noGrp="1"/>
          </p:cNvSpPr>
          <p:nvPr/>
        </p:nvSpPr>
        <p:spPr>
          <a:xfrm>
            <a:off x="1190625" y="4286250"/>
            <a:ext cx="9525000" cy="504825"/>
          </a:xfrm>
          <a:prstGeom prst="rect">
            <a:avLst/>
          </a:prstGeom>
          <a:solidFill>
            <a:srgbClr val="FFFFFF"/>
          </a:solidFill>
          <a:ln w="7144">
            <a:solidFill>
              <a:srgbClr val="B5B5B5"/>
            </a:solidFill>
            <a:prstDash val="solid"/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111892CD-F91A-4D53-9AB9-207861F94EE9}"/>
              </a:ext>
            </a:extLst>
          </p:cNvPr>
          <p:cNvSpPr>
            <a:spLocks noGrp="1"/>
          </p:cNvSpPr>
          <p:nvPr/>
        </p:nvSpPr>
        <p:spPr>
          <a:xfrm>
            <a:off x="3286125" y="4286250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03827117-5ADF-4690-83B6-C77A07DD3FF2}"/>
              </a:ext>
            </a:extLst>
          </p:cNvPr>
          <p:cNvSpPr>
            <a:spLocks noGrp="1"/>
          </p:cNvSpPr>
          <p:nvPr/>
        </p:nvSpPr>
        <p:spPr>
          <a:xfrm>
            <a:off x="7000875" y="4286250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543DBD-D7AE-4C0F-8CAD-B0560B78ADB8}"/>
              </a:ext>
            </a:extLst>
          </p:cNvPr>
          <p:cNvSpPr>
            <a:spLocks noGrp="1"/>
          </p:cNvSpPr>
          <p:nvPr/>
        </p:nvSpPr>
        <p:spPr>
          <a:xfrm>
            <a:off x="1333500" y="4400550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Execution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176F7A-32A2-461D-B299-2CEDE781AB3F}"/>
              </a:ext>
            </a:extLst>
          </p:cNvPr>
          <p:cNvSpPr>
            <a:spLocks noGrp="1"/>
          </p:cNvSpPr>
          <p:nvPr/>
        </p:nvSpPr>
        <p:spPr>
          <a:xfrm>
            <a:off x="3429000" y="4391025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User coordinates each step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4DD95E-E637-46C8-BEB1-4BAF62CA6668}"/>
              </a:ext>
            </a:extLst>
          </p:cNvPr>
          <p:cNvSpPr>
            <a:spLocks noGrp="1"/>
          </p:cNvSpPr>
          <p:nvPr/>
        </p:nvSpPr>
        <p:spPr>
          <a:xfrm>
            <a:off x="7143750" y="4391025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Solvers compete on valid routes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380FBF-28AC-43AC-8F85-1A1E142061E2}"/>
              </a:ext>
            </a:extLst>
          </p:cNvPr>
          <p:cNvSpPr>
            <a:spLocks noGrp="1"/>
          </p:cNvSpPr>
          <p:nvPr/>
        </p:nvSpPr>
        <p:spPr>
          <a:xfrm>
            <a:off x="1190625" y="4791075"/>
            <a:ext cx="9525000" cy="504825"/>
          </a:xfrm>
          <a:prstGeom prst="rect">
            <a:avLst/>
          </a:prstGeom>
          <a:solidFill>
            <a:srgbClr val="F5F5F3"/>
          </a:solidFill>
          <a:ln w="7144">
            <a:solidFill>
              <a:srgbClr val="B5B5B5"/>
            </a:solidFill>
            <a:prstDash val="solid"/>
          </a:ln>
        </p:spPr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6F1BAC6F-AAC8-42F3-BE04-7FBD9DA561B7}"/>
              </a:ext>
            </a:extLst>
          </p:cNvPr>
          <p:cNvSpPr>
            <a:spLocks noGrp="1"/>
          </p:cNvSpPr>
          <p:nvPr/>
        </p:nvSpPr>
        <p:spPr>
          <a:xfrm>
            <a:off x="3286125" y="4791075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ED86499F-B332-45F8-A377-B7C3C4FF97E7}"/>
              </a:ext>
            </a:extLst>
          </p:cNvPr>
          <p:cNvSpPr>
            <a:spLocks noGrp="1"/>
          </p:cNvSpPr>
          <p:nvPr/>
        </p:nvSpPr>
        <p:spPr>
          <a:xfrm>
            <a:off x="7000875" y="4791075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5D58BD-6324-418A-BCEE-2EAD3487601F}"/>
              </a:ext>
            </a:extLst>
          </p:cNvPr>
          <p:cNvSpPr>
            <a:spLocks noGrp="1"/>
          </p:cNvSpPr>
          <p:nvPr/>
        </p:nvSpPr>
        <p:spPr>
          <a:xfrm>
            <a:off x="1333500" y="490537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Automation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0F6AD1-0574-40F2-949C-D86E01EF63B2}"/>
              </a:ext>
            </a:extLst>
          </p:cNvPr>
          <p:cNvSpPr>
            <a:spLocks noGrp="1"/>
          </p:cNvSpPr>
          <p:nvPr/>
        </p:nvSpPr>
        <p:spPr>
          <a:xfrm>
            <a:off x="3429000" y="4895850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Ad-hoc scripts or alerts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E6EFD1-6A7A-4000-936F-A61B4A206DEA}"/>
              </a:ext>
            </a:extLst>
          </p:cNvPr>
          <p:cNvSpPr>
            <a:spLocks noGrp="1"/>
          </p:cNvSpPr>
          <p:nvPr/>
        </p:nvSpPr>
        <p:spPr>
          <a:xfrm>
            <a:off x="7143750" y="4895850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Permissions bounded per position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11A7F0-2015-4114-92C8-3912B2454F0F}"/>
              </a:ext>
            </a:extLst>
          </p:cNvPr>
          <p:cNvSpPr>
            <a:spLocks noGrp="1"/>
          </p:cNvSpPr>
          <p:nvPr/>
        </p:nvSpPr>
        <p:spPr>
          <a:xfrm>
            <a:off x="1190625" y="5295900"/>
            <a:ext cx="9525000" cy="504825"/>
          </a:xfrm>
          <a:prstGeom prst="rect">
            <a:avLst/>
          </a:prstGeom>
          <a:solidFill>
            <a:srgbClr val="FFFFFF"/>
          </a:solidFill>
          <a:ln w="7144">
            <a:solidFill>
              <a:srgbClr val="B5B5B5"/>
            </a:solidFill>
            <a:prstDash val="solid"/>
          </a:ln>
        </p:spPr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96ECBC08-2022-4A62-AB59-CEC61F95C2F2}"/>
              </a:ext>
            </a:extLst>
          </p:cNvPr>
          <p:cNvSpPr>
            <a:spLocks noGrp="1"/>
          </p:cNvSpPr>
          <p:nvPr/>
        </p:nvSpPr>
        <p:spPr>
          <a:xfrm>
            <a:off x="3286125" y="5295900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8616289C-8BB8-427A-9E36-1456ACB283C1}"/>
              </a:ext>
            </a:extLst>
          </p:cNvPr>
          <p:cNvSpPr>
            <a:spLocks noGrp="1"/>
          </p:cNvSpPr>
          <p:nvPr/>
        </p:nvSpPr>
        <p:spPr>
          <a:xfrm>
            <a:off x="7000875" y="5295900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7F8483-6DB7-40F0-9A0F-92063E1912E9}"/>
              </a:ext>
            </a:extLst>
          </p:cNvPr>
          <p:cNvSpPr>
            <a:spLocks noGrp="1"/>
          </p:cNvSpPr>
          <p:nvPr/>
        </p:nvSpPr>
        <p:spPr>
          <a:xfrm>
            <a:off x="1333500" y="5410200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Transparency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0CD50B-ED5D-4494-9F8A-7A434E5C7481}"/>
              </a:ext>
            </a:extLst>
          </p:cNvPr>
          <p:cNvSpPr>
            <a:spLocks noGrp="1"/>
          </p:cNvSpPr>
          <p:nvPr/>
        </p:nvSpPr>
        <p:spPr>
          <a:xfrm>
            <a:off x="3429000" y="5400675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Hard to reconstruct why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02E5C8D-E0AA-4D90-9216-82BE8195A2A2}"/>
              </a:ext>
            </a:extLst>
          </p:cNvPr>
          <p:cNvSpPr>
            <a:spLocks noGrp="1"/>
          </p:cNvSpPr>
          <p:nvPr/>
        </p:nvSpPr>
        <p:spPr>
          <a:xfrm>
            <a:off x="7143750" y="5400675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Observed, calculated, predicted, assumed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74425C-32E4-4311-A52C-A56C9BC79C79}"/>
              </a:ext>
            </a:extLst>
          </p:cNvPr>
          <p:cNvSpPr>
            <a:spLocks noGrp="1"/>
          </p:cNvSpPr>
          <p:nvPr/>
        </p:nvSpPr>
        <p:spPr>
          <a:xfrm>
            <a:off x="1190625" y="5800725"/>
            <a:ext cx="9525000" cy="504825"/>
          </a:xfrm>
          <a:prstGeom prst="rect">
            <a:avLst/>
          </a:prstGeom>
          <a:solidFill>
            <a:srgbClr val="F5F5F3"/>
          </a:solidFill>
          <a:ln w="7144">
            <a:solidFill>
              <a:srgbClr val="B5B5B5"/>
            </a:solidFill>
            <a:prstDash val="solid"/>
          </a:ln>
        </p:spPr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E6E72BF8-2340-4FC5-86C4-4A788BD52AFB}"/>
              </a:ext>
            </a:extLst>
          </p:cNvPr>
          <p:cNvSpPr>
            <a:spLocks noGrp="1"/>
          </p:cNvSpPr>
          <p:nvPr/>
        </p:nvSpPr>
        <p:spPr>
          <a:xfrm>
            <a:off x="3286125" y="5800725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5B88EFDB-64DD-4B31-BC1B-66572DD0F3DB}"/>
              </a:ext>
            </a:extLst>
          </p:cNvPr>
          <p:cNvSpPr>
            <a:spLocks noGrp="1"/>
          </p:cNvSpPr>
          <p:nvPr/>
        </p:nvSpPr>
        <p:spPr>
          <a:xfrm>
            <a:off x="7000875" y="5800725"/>
            <a:ext cx="0" cy="504825"/>
          </a:xfrm>
          <a:prstGeom prst="line">
            <a:avLst/>
          </a:prstGeom>
          <a:noFill/>
          <a:ln w="7144">
            <a:solidFill>
              <a:srgbClr val="B5B5B5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B1EA32-5A1E-481C-B848-366C5349FAE3}"/>
              </a:ext>
            </a:extLst>
          </p:cNvPr>
          <p:cNvSpPr>
            <a:spLocks noGrp="1"/>
          </p:cNvSpPr>
          <p:nvPr/>
        </p:nvSpPr>
        <p:spPr>
          <a:xfrm>
            <a:off x="1333500" y="591502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Position view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68A6515-668D-44F1-8C01-4CC70170B473}"/>
              </a:ext>
            </a:extLst>
          </p:cNvPr>
          <p:cNvSpPr>
            <a:spLocks noGrp="1"/>
          </p:cNvSpPr>
          <p:nvPr/>
        </p:nvSpPr>
        <p:spPr>
          <a:xfrm>
            <a:off x="3429000" y="5905500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Fragmented across chains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CA418F6-FC22-4D32-ACF9-2B72F3277BCA}"/>
              </a:ext>
            </a:extLst>
          </p:cNvPr>
          <p:cNvSpPr>
            <a:spLocks noGrp="1"/>
          </p:cNvSpPr>
          <p:nvPr/>
        </p:nvSpPr>
        <p:spPr>
          <a:xfrm>
            <a:off x="7143750" y="5905500"/>
            <a:ext cx="3476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One logical strategy with chain detail</a:t>
            </a:r>
          </a:p>
        </p:txBody>
      </p:sp>
    </p:spTree>
    <p:extLst>
      <p:ext uri="{BB962C8B-B14F-4D97-AF65-F5344CB8AC3E}">
        <p14:creationId xmlns:p14="http://schemas.microsoft.com/office/powerpoint/2010/main" val="1505222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5EAF5DD-A827-427E-ACD9-0D9DB03EED29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2" name="slide-6-title">
            <a:extLst>
              <a:ext uri="{FF2B5EF4-FFF2-40B4-BE49-F238E27FC236}">
                <a16:creationId xmlns:a16="http://schemas.microsoft.com/office/drawing/2014/main" id="{313001FB-2022-494C-98FE-24ACF29B7DC6}"/>
              </a:ext>
            </a:extLst>
          </p:cNvPr>
          <p:cNvSpPr>
            <a:spLocks noGrp="1"/>
          </p:cNvSpPr>
          <p:nvPr/>
        </p:nvSpPr>
        <p:spPr>
          <a:xfrm>
            <a:off x="1095375" y="285750"/>
            <a:ext cx="100584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95250" tIns="0" rIns="95250" bIns="38100" anchor="b">
            <a:normAutofit/>
          </a:bodyPr>
          <a:lstStyle/>
          <a:p>
            <a:pPr algn="l">
              <a:def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Architecture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5EFDF56-6244-4B1E-B20B-83AC30B61440}"/>
              </a:ext>
            </a:extLst>
          </p:cNvPr>
          <p:cNvSpPr>
            <a:spLocks noGrp="1"/>
          </p:cNvSpPr>
          <p:nvPr/>
        </p:nvSpPr>
        <p:spPr>
          <a:xfrm>
            <a:off x="1190625" y="1895475"/>
            <a:ext cx="9963150" cy="0"/>
          </a:xfrm>
          <a:prstGeom prst="line">
            <a:avLst/>
          </a:prstGeom>
          <a:noFill/>
          <a:ln w="12668">
            <a:solidFill>
              <a:srgbClr val="8C8C8C"/>
            </a:solidFill>
            <a:prstDash val="solid"/>
          </a:ln>
        </p:spPr>
      </p:sp>
      <p:sp>
        <p:nvSpPr>
          <p:cNvPr id="4" name="slide-6-number">
            <a:extLst>
              <a:ext uri="{FF2B5EF4-FFF2-40B4-BE49-F238E27FC236}">
                <a16:creationId xmlns:a16="http://schemas.microsoft.com/office/drawing/2014/main" id="{FC1B151B-27A4-48EE-BCE6-3CCCD6050B38}"/>
              </a:ext>
            </a:extLst>
          </p:cNvPr>
          <p:cNvSpPr>
            <a:spLocks noGrp="1"/>
          </p:cNvSpPr>
          <p:nvPr/>
        </p:nvSpPr>
        <p:spPr>
          <a:xfrm>
            <a:off x="10953750" y="65055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34F474-7DEC-423B-9D7C-1D7EE8F9949A}"/>
              </a:ext>
            </a:extLst>
          </p:cNvPr>
          <p:cNvSpPr>
            <a:spLocks noGrp="1"/>
          </p:cNvSpPr>
          <p:nvPr/>
        </p:nvSpPr>
        <p:spPr>
          <a:xfrm>
            <a:off x="1190625" y="2190750"/>
            <a:ext cx="904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725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Intent in, constrained execution out, with a closed risk-management loop</a:t>
            </a:r>
          </a:p>
        </p:txBody>
      </p:sp>
      <p:sp>
        <p:nvSpPr>
          <p:cNvPr id="6" name="arch-wallet">
            <a:extLst>
              <a:ext uri="{FF2B5EF4-FFF2-40B4-BE49-F238E27FC236}">
                <a16:creationId xmlns:a16="http://schemas.microsoft.com/office/drawing/2014/main" id="{1C570355-33B6-4322-9971-DBC574FB23D6}"/>
              </a:ext>
            </a:extLst>
          </p:cNvPr>
          <p:cNvSpPr>
            <a:spLocks noGrp="1"/>
          </p:cNvSpPr>
          <p:nvPr/>
        </p:nvSpPr>
        <p:spPr>
          <a:xfrm>
            <a:off x="1190625" y="2905125"/>
            <a:ext cx="1809750" cy="857250"/>
          </a:xfrm>
          <a:prstGeom prst="roundRect">
            <a:avLst>
              <a:gd name="adj" fmla="val 13333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7" name="arch-wallet-label">
            <a:extLst>
              <a:ext uri="{FF2B5EF4-FFF2-40B4-BE49-F238E27FC236}">
                <a16:creationId xmlns:a16="http://schemas.microsoft.com/office/drawing/2014/main" id="{C12169C5-02DB-42FA-AAEB-9064355A3BF3}"/>
              </a:ext>
            </a:extLst>
          </p:cNvPr>
          <p:cNvSpPr>
            <a:spLocks noGrp="1"/>
          </p:cNvSpPr>
          <p:nvPr/>
        </p:nvSpPr>
        <p:spPr>
          <a:xfrm>
            <a:off x="1333500" y="30289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9148"/>
          </a:bodyPr>
          <a:lstStyle/>
          <a:p>
            <a:pPr algn="ctr">
              <a:def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User and wallet</a:t>
            </a:r>
          </a:p>
        </p:txBody>
      </p:sp>
      <p:sp>
        <p:nvSpPr>
          <p:cNvPr id="8" name="arch-wallet-detail">
            <a:extLst>
              <a:ext uri="{FF2B5EF4-FFF2-40B4-BE49-F238E27FC236}">
                <a16:creationId xmlns:a16="http://schemas.microsoft.com/office/drawing/2014/main" id="{F3CC3B8B-7251-4A37-82E1-5BE184EB77CE}"/>
              </a:ext>
            </a:extLst>
          </p:cNvPr>
          <p:cNvSpPr>
            <a:spLocks noGrp="1"/>
          </p:cNvSpPr>
          <p:nvPr/>
        </p:nvSpPr>
        <p:spPr>
          <a:xfrm>
            <a:off x="1333500" y="3362325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111" lnSpcReduction="20000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Intent, capital, permissions</a:t>
            </a:r>
          </a:p>
        </p:txBody>
      </p:sp>
      <p:sp>
        <p:nvSpPr>
          <p:cNvPr id="9" name="arch-policy">
            <a:extLst>
              <a:ext uri="{FF2B5EF4-FFF2-40B4-BE49-F238E27FC236}">
                <a16:creationId xmlns:a16="http://schemas.microsoft.com/office/drawing/2014/main" id="{00460594-6F00-4416-B1F2-725743CD0BE7}"/>
              </a:ext>
            </a:extLst>
          </p:cNvPr>
          <p:cNvSpPr>
            <a:spLocks noGrp="1"/>
          </p:cNvSpPr>
          <p:nvPr/>
        </p:nvSpPr>
        <p:spPr>
          <a:xfrm>
            <a:off x="3476625" y="2905125"/>
            <a:ext cx="1952625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777777"/>
            </a:solidFill>
            <a:prstDash val="solid"/>
          </a:ln>
        </p:spPr>
      </p:sp>
      <p:sp>
        <p:nvSpPr>
          <p:cNvPr id="10" name="arch-policy-label">
            <a:extLst>
              <a:ext uri="{FF2B5EF4-FFF2-40B4-BE49-F238E27FC236}">
                <a16:creationId xmlns:a16="http://schemas.microsoft.com/office/drawing/2014/main" id="{38C26111-9AD2-45C7-B9C9-86415050540F}"/>
              </a:ext>
            </a:extLst>
          </p:cNvPr>
          <p:cNvSpPr>
            <a:spLocks noGrp="1"/>
          </p:cNvSpPr>
          <p:nvPr/>
        </p:nvSpPr>
        <p:spPr>
          <a:xfrm>
            <a:off x="3619500" y="3028950"/>
            <a:ext cx="1666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9861"/>
          </a:bodyPr>
          <a:lstStyle/>
          <a:p>
            <a:pPr algn="ctr">
              <a:defRPr sz="1650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Intent and policy</a:t>
            </a:r>
          </a:p>
        </p:txBody>
      </p:sp>
      <p:sp>
        <p:nvSpPr>
          <p:cNvPr id="11" name="arch-policy-detail">
            <a:extLst>
              <a:ext uri="{FF2B5EF4-FFF2-40B4-BE49-F238E27FC236}">
                <a16:creationId xmlns:a16="http://schemas.microsoft.com/office/drawing/2014/main" id="{ABFDB20A-695E-4B53-9483-FD4AC088060E}"/>
              </a:ext>
            </a:extLst>
          </p:cNvPr>
          <p:cNvSpPr>
            <a:spLocks noGrp="1"/>
          </p:cNvSpPr>
          <p:nvPr/>
        </p:nvSpPr>
        <p:spPr>
          <a:xfrm>
            <a:off x="3619500" y="3362325"/>
            <a:ext cx="1666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8275" lnSpcReduction="10000"/>
          </a:bodyPr>
          <a:lstStyle/>
          <a:p>
            <a:pPr algn="ctr">
              <a:def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3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Structured constraints and automation limits</a:t>
            </a:r>
          </a:p>
        </p:txBody>
      </p:sp>
      <p:sp>
        <p:nvSpPr>
          <p:cNvPr id="12" name="arch-solver">
            <a:extLst>
              <a:ext uri="{FF2B5EF4-FFF2-40B4-BE49-F238E27FC236}">
                <a16:creationId xmlns:a16="http://schemas.microsoft.com/office/drawing/2014/main" id="{B87700A4-9904-49E5-9C56-D0DA9371EBAB}"/>
              </a:ext>
            </a:extLst>
          </p:cNvPr>
          <p:cNvSpPr>
            <a:spLocks noGrp="1"/>
          </p:cNvSpPr>
          <p:nvPr/>
        </p:nvSpPr>
        <p:spPr>
          <a:xfrm>
            <a:off x="5905500" y="2905125"/>
            <a:ext cx="1952625" cy="857250"/>
          </a:xfrm>
          <a:prstGeom prst="roundRect">
            <a:avLst>
              <a:gd name="adj" fmla="val 13333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13" name="arch-solver-label">
            <a:extLst>
              <a:ext uri="{FF2B5EF4-FFF2-40B4-BE49-F238E27FC236}">
                <a16:creationId xmlns:a16="http://schemas.microsoft.com/office/drawing/2014/main" id="{52DBBABC-7060-400C-AF9C-8AA46F82C3A1}"/>
              </a:ext>
            </a:extLst>
          </p:cNvPr>
          <p:cNvSpPr>
            <a:spLocks noGrp="1"/>
          </p:cNvSpPr>
          <p:nvPr/>
        </p:nvSpPr>
        <p:spPr>
          <a:xfrm>
            <a:off x="6048375" y="3028950"/>
            <a:ext cx="1666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4075"/>
          </a:bodyPr>
          <a:lstStyle/>
          <a:p>
            <a:pPr algn="ctr">
              <a:def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Solver marketplace</a:t>
            </a:r>
          </a:p>
        </p:txBody>
      </p:sp>
      <p:sp>
        <p:nvSpPr>
          <p:cNvPr id="14" name="arch-solver-detail">
            <a:extLst>
              <a:ext uri="{FF2B5EF4-FFF2-40B4-BE49-F238E27FC236}">
                <a16:creationId xmlns:a16="http://schemas.microsoft.com/office/drawing/2014/main" id="{EADF287A-7A92-4151-A287-90D89314A732}"/>
              </a:ext>
            </a:extLst>
          </p:cNvPr>
          <p:cNvSpPr>
            <a:spLocks noGrp="1"/>
          </p:cNvSpPr>
          <p:nvPr/>
        </p:nvSpPr>
        <p:spPr>
          <a:xfrm>
            <a:off x="6048375" y="3362325"/>
            <a:ext cx="1666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1161" lnSpcReduction="20000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Candidate routes and sealed bids</a:t>
            </a:r>
          </a:p>
        </p:txBody>
      </p:sp>
      <p:sp>
        <p:nvSpPr>
          <p:cNvPr id="15" name="arch-coord">
            <a:extLst>
              <a:ext uri="{FF2B5EF4-FFF2-40B4-BE49-F238E27FC236}">
                <a16:creationId xmlns:a16="http://schemas.microsoft.com/office/drawing/2014/main" id="{9EC99031-101C-474A-A981-0F1C0B37BBC6}"/>
              </a:ext>
            </a:extLst>
          </p:cNvPr>
          <p:cNvSpPr>
            <a:spLocks noGrp="1"/>
          </p:cNvSpPr>
          <p:nvPr/>
        </p:nvSpPr>
        <p:spPr>
          <a:xfrm>
            <a:off x="8334375" y="2905125"/>
            <a:ext cx="1952625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777777"/>
            </a:solidFill>
            <a:prstDash val="solid"/>
          </a:ln>
        </p:spPr>
      </p:sp>
      <p:sp>
        <p:nvSpPr>
          <p:cNvPr id="16" name="arch-coord-label">
            <a:extLst>
              <a:ext uri="{FF2B5EF4-FFF2-40B4-BE49-F238E27FC236}">
                <a16:creationId xmlns:a16="http://schemas.microsoft.com/office/drawing/2014/main" id="{635CD75E-E0E1-47E2-B573-776D1FD1BFB1}"/>
              </a:ext>
            </a:extLst>
          </p:cNvPr>
          <p:cNvSpPr>
            <a:spLocks noGrp="1"/>
          </p:cNvSpPr>
          <p:nvPr/>
        </p:nvSpPr>
        <p:spPr>
          <a:xfrm>
            <a:off x="8477250" y="3028950"/>
            <a:ext cx="1666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2498" lnSpcReduction="10000"/>
          </a:bodyPr>
          <a:lstStyle/>
          <a:p>
            <a:pPr algn="ctr">
              <a:defRPr sz="1650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Execution coordinator</a:t>
            </a:r>
          </a:p>
        </p:txBody>
      </p:sp>
      <p:sp>
        <p:nvSpPr>
          <p:cNvPr id="17" name="arch-coord-detail">
            <a:extLst>
              <a:ext uri="{FF2B5EF4-FFF2-40B4-BE49-F238E27FC236}">
                <a16:creationId xmlns:a16="http://schemas.microsoft.com/office/drawing/2014/main" id="{2710191A-ECD6-48BF-BE84-AFA642E39B3C}"/>
              </a:ext>
            </a:extLst>
          </p:cNvPr>
          <p:cNvSpPr>
            <a:spLocks noGrp="1"/>
          </p:cNvSpPr>
          <p:nvPr/>
        </p:nvSpPr>
        <p:spPr>
          <a:xfrm>
            <a:off x="8477250" y="3362325"/>
            <a:ext cx="1666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597" lnSpcReduction="20000"/>
          </a:bodyPr>
          <a:lstStyle/>
          <a:p>
            <a:pPr algn="ctr">
              <a:def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1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Route, settle, retry, recover</a:t>
            </a:r>
          </a:p>
        </p:txBody>
      </p:sp>
      <p:sp>
        <p:nvSpPr>
          <p:cNvPr id="18" name="arch-adapters">
            <a:extLst>
              <a:ext uri="{FF2B5EF4-FFF2-40B4-BE49-F238E27FC236}">
                <a16:creationId xmlns:a16="http://schemas.microsoft.com/office/drawing/2014/main" id="{92AFC43E-4C5D-4C5F-A3FE-11EFB7DA4401}"/>
              </a:ext>
            </a:extLst>
          </p:cNvPr>
          <p:cNvSpPr>
            <a:spLocks noGrp="1"/>
          </p:cNvSpPr>
          <p:nvPr/>
        </p:nvSpPr>
        <p:spPr>
          <a:xfrm>
            <a:off x="9906000" y="4476750"/>
            <a:ext cx="1619250" cy="857250"/>
          </a:xfrm>
          <a:prstGeom prst="roundRect">
            <a:avLst>
              <a:gd name="adj" fmla="val 13333"/>
            </a:avLst>
          </a:prstGeom>
          <a:solidFill>
            <a:srgbClr val="252525"/>
          </a:solidFill>
          <a:ln w="14288">
            <a:solidFill>
              <a:srgbClr val="252525"/>
            </a:solidFill>
            <a:prstDash val="solid"/>
          </a:ln>
        </p:spPr>
      </p:sp>
      <p:sp>
        <p:nvSpPr>
          <p:cNvPr id="19" name="arch-adapters-label">
            <a:extLst>
              <a:ext uri="{FF2B5EF4-FFF2-40B4-BE49-F238E27FC236}">
                <a16:creationId xmlns:a16="http://schemas.microsoft.com/office/drawing/2014/main" id="{64005D88-2992-4E3A-9963-269066917F18}"/>
              </a:ext>
            </a:extLst>
          </p:cNvPr>
          <p:cNvSpPr>
            <a:spLocks noGrp="1"/>
          </p:cNvSpPr>
          <p:nvPr/>
        </p:nvSpPr>
        <p:spPr>
          <a:xfrm>
            <a:off x="10048875" y="460057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64318" lnSpcReduction="20000"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Protocol and chain adapters</a:t>
            </a:r>
          </a:p>
        </p:txBody>
      </p:sp>
      <p:sp>
        <p:nvSpPr>
          <p:cNvPr id="20" name="arch-adapters-detail">
            <a:extLst>
              <a:ext uri="{FF2B5EF4-FFF2-40B4-BE49-F238E27FC236}">
                <a16:creationId xmlns:a16="http://schemas.microsoft.com/office/drawing/2014/main" id="{E6DB548D-0CDC-4A4D-AEC8-AD3FC8FDEA05}"/>
              </a:ext>
            </a:extLst>
          </p:cNvPr>
          <p:cNvSpPr>
            <a:spLocks noGrp="1"/>
          </p:cNvSpPr>
          <p:nvPr/>
        </p:nvSpPr>
        <p:spPr>
          <a:xfrm>
            <a:off x="10048875" y="49339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389" lnSpcReduction="10000"/>
          </a:bodyPr>
          <a:lstStyle/>
          <a:p>
            <a:pPr algn="ctr">
              <a:defRPr sz="1125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125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Vault, lending, AMM, bridge, oracle</a:t>
            </a:r>
          </a:p>
        </p:txBody>
      </p:sp>
      <p:sp>
        <p:nvSpPr>
          <p:cNvPr id="21" name="arch-risk">
            <a:extLst>
              <a:ext uri="{FF2B5EF4-FFF2-40B4-BE49-F238E27FC236}">
                <a16:creationId xmlns:a16="http://schemas.microsoft.com/office/drawing/2014/main" id="{A38A67F2-41B8-46B7-AFAA-46324466960C}"/>
              </a:ext>
            </a:extLst>
          </p:cNvPr>
          <p:cNvSpPr>
            <a:spLocks noGrp="1"/>
          </p:cNvSpPr>
          <p:nvPr/>
        </p:nvSpPr>
        <p:spPr>
          <a:xfrm>
            <a:off x="3476625" y="4476750"/>
            <a:ext cx="1952625" cy="857250"/>
          </a:xfrm>
          <a:prstGeom prst="roundRect">
            <a:avLst>
              <a:gd name="adj" fmla="val 13333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22" name="arch-risk-label">
            <a:extLst>
              <a:ext uri="{FF2B5EF4-FFF2-40B4-BE49-F238E27FC236}">
                <a16:creationId xmlns:a16="http://schemas.microsoft.com/office/drawing/2014/main" id="{78B8226D-4AD3-4C72-A354-7F38B4DC1302}"/>
              </a:ext>
            </a:extLst>
          </p:cNvPr>
          <p:cNvSpPr>
            <a:spLocks noGrp="1"/>
          </p:cNvSpPr>
          <p:nvPr/>
        </p:nvSpPr>
        <p:spPr>
          <a:xfrm>
            <a:off x="3619500" y="4600575"/>
            <a:ext cx="1666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2570" lnSpcReduction="10000"/>
          </a:bodyPr>
          <a:lstStyle/>
          <a:p>
            <a:pPr algn="ctr">
              <a:def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Risk and observability</a:t>
            </a:r>
          </a:p>
        </p:txBody>
      </p:sp>
      <p:sp>
        <p:nvSpPr>
          <p:cNvPr id="23" name="arch-risk-detail">
            <a:extLst>
              <a:ext uri="{FF2B5EF4-FFF2-40B4-BE49-F238E27FC236}">
                <a16:creationId xmlns:a16="http://schemas.microsoft.com/office/drawing/2014/main" id="{4E3D9F6C-9E7A-4E32-A5DD-0F88B41F704B}"/>
              </a:ext>
            </a:extLst>
          </p:cNvPr>
          <p:cNvSpPr>
            <a:spLocks noGrp="1"/>
          </p:cNvSpPr>
          <p:nvPr/>
        </p:nvSpPr>
        <p:spPr>
          <a:xfrm>
            <a:off x="3619500" y="4933950"/>
            <a:ext cx="1666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484" lnSpcReduction="10000"/>
          </a:bodyPr>
          <a:lstStyle/>
          <a:p>
            <a:pPr algn="ctr">
              <a:defRPr sz="116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16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Delta, health, liquidity, regime, stress</a:t>
            </a:r>
          </a:p>
        </p:txBody>
      </p:sp>
      <p:sp>
        <p:nvSpPr>
          <p:cNvPr id="24" name="arch-recovery">
            <a:extLst>
              <a:ext uri="{FF2B5EF4-FFF2-40B4-BE49-F238E27FC236}">
                <a16:creationId xmlns:a16="http://schemas.microsoft.com/office/drawing/2014/main" id="{03916993-3C70-4C62-925E-5FED210ED864}"/>
              </a:ext>
            </a:extLst>
          </p:cNvPr>
          <p:cNvSpPr>
            <a:spLocks noGrp="1"/>
          </p:cNvSpPr>
          <p:nvPr/>
        </p:nvSpPr>
        <p:spPr>
          <a:xfrm>
            <a:off x="5905500" y="4476750"/>
            <a:ext cx="1952625" cy="857250"/>
          </a:xfrm>
          <a:prstGeom prst="roundRect">
            <a:avLst>
              <a:gd name="adj" fmla="val 13333"/>
            </a:avLst>
          </a:prstGeom>
          <a:solidFill>
            <a:srgbClr val="FFF1E7"/>
          </a:solidFill>
          <a:ln w="14288">
            <a:solidFill>
              <a:srgbClr val="EC7016"/>
            </a:solidFill>
            <a:prstDash val="solid"/>
          </a:ln>
        </p:spPr>
      </p:sp>
      <p:sp>
        <p:nvSpPr>
          <p:cNvPr id="25" name="arch-recovery-label">
            <a:extLst>
              <a:ext uri="{FF2B5EF4-FFF2-40B4-BE49-F238E27FC236}">
                <a16:creationId xmlns:a16="http://schemas.microsoft.com/office/drawing/2014/main" id="{41850344-6F07-4C01-A952-A47E7DD5671D}"/>
              </a:ext>
            </a:extLst>
          </p:cNvPr>
          <p:cNvSpPr>
            <a:spLocks noGrp="1"/>
          </p:cNvSpPr>
          <p:nvPr/>
        </p:nvSpPr>
        <p:spPr>
          <a:xfrm>
            <a:off x="6048375" y="4600575"/>
            <a:ext cx="1666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9502"/>
          </a:bodyPr>
          <a:lstStyle/>
          <a:p>
            <a:pPr algn="ctr">
              <a:def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Recovery engine</a:t>
            </a:r>
          </a:p>
        </p:txBody>
      </p:sp>
      <p:sp>
        <p:nvSpPr>
          <p:cNvPr id="26" name="arch-recovery-detail">
            <a:extLst>
              <a:ext uri="{FF2B5EF4-FFF2-40B4-BE49-F238E27FC236}">
                <a16:creationId xmlns:a16="http://schemas.microsoft.com/office/drawing/2014/main" id="{87AF61E1-64AC-4AAF-8D28-D0F0BE99E35A}"/>
              </a:ext>
            </a:extLst>
          </p:cNvPr>
          <p:cNvSpPr>
            <a:spLocks noGrp="1"/>
          </p:cNvSpPr>
          <p:nvPr/>
        </p:nvSpPr>
        <p:spPr>
          <a:xfrm>
            <a:off x="6048375" y="4933950"/>
            <a:ext cx="1666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484" lnSpcReduction="10000"/>
          </a:bodyPr>
          <a:lstStyle/>
          <a:p>
            <a:pPr algn="ctr">
              <a:defRPr sz="116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163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Rank actions inside deterministic limits</a:t>
            </a:r>
          </a:p>
        </p:txBody>
      </p:sp>
      <p:cxnSp>
        <p:nvCxnSpPr>
          <p:cNvPr id="61" name="Straight Arrow Connector 60"/>
          <p:cNvCxnSpPr>
            <a:stCxn id="6" idx="3"/>
            <a:endCxn id="9" idx="1"/>
          </p:cNvCxnSpPr>
          <p:nvPr/>
        </p:nvCxnSpPr>
        <p:spPr>
          <a:xfrm>
            <a:off x="3000375" y="3333750"/>
            <a:ext cx="476250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62" name="Straight Arrow Connector 61"/>
          <p:cNvCxnSpPr>
            <a:stCxn id="9" idx="3"/>
            <a:endCxn id="12" idx="1"/>
          </p:cNvCxnSpPr>
          <p:nvPr/>
        </p:nvCxnSpPr>
        <p:spPr>
          <a:xfrm>
            <a:off x="5429250" y="3333750"/>
            <a:ext cx="476250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63" name="Straight Arrow Connector 62"/>
          <p:cNvCxnSpPr>
            <a:stCxn id="12" idx="3"/>
            <a:endCxn id="15" idx="1"/>
          </p:cNvCxnSpPr>
          <p:nvPr/>
        </p:nvCxnSpPr>
        <p:spPr>
          <a:xfrm>
            <a:off x="7858125" y="3333750"/>
            <a:ext cx="476250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64" name="Straight Arrow Connector 63"/>
          <p:cNvCxnSpPr>
            <a:stCxn id="15" idx="2"/>
            <a:endCxn id="18" idx="1"/>
          </p:cNvCxnSpPr>
          <p:nvPr/>
        </p:nvCxnSpPr>
        <p:spPr>
          <a:xfrm>
            <a:off x="9310688" y="3762375"/>
            <a:ext cx="595313" cy="114300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65" name="Straight Arrow Connector 64"/>
          <p:cNvCxnSpPr>
            <a:stCxn id="15" idx="2"/>
            <a:endCxn id="21" idx="0"/>
          </p:cNvCxnSpPr>
          <p:nvPr/>
        </p:nvCxnSpPr>
        <p:spPr>
          <a:xfrm flipH="1">
            <a:off x="4452938" y="3762375"/>
            <a:ext cx="4857750" cy="714375"/>
          </a:xfrm>
          <a:prstGeom prst="straightConnector1">
            <a:avLst/>
          </a:prstGeom>
          <a:ln w="15240">
            <a:solidFill>
              <a:srgbClr val="6B6B6B"/>
            </a:solidFill>
            <a:prstDash val="solid"/>
            <a:tailEnd type="triangle" w="sm" len="sm"/>
          </a:ln>
        </p:spPr>
      </p:cxnSp>
      <p:cxnSp>
        <p:nvCxnSpPr>
          <p:cNvPr id="66" name="Straight Arrow Connector 65"/>
          <p:cNvCxnSpPr>
            <a:stCxn id="21" idx="3"/>
            <a:endCxn id="24" idx="1"/>
          </p:cNvCxnSpPr>
          <p:nvPr/>
        </p:nvCxnSpPr>
        <p:spPr>
          <a:xfrm>
            <a:off x="5429250" y="4905375"/>
            <a:ext cx="476250" cy="0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cxnSp>
        <p:nvCxnSpPr>
          <p:cNvPr id="67" name="Straight Arrow Connector 66"/>
          <p:cNvCxnSpPr>
            <a:stCxn id="24" idx="0"/>
            <a:endCxn id="15" idx="2"/>
          </p:cNvCxnSpPr>
          <p:nvPr/>
        </p:nvCxnSpPr>
        <p:spPr>
          <a:xfrm flipV="1">
            <a:off x="6881813" y="3762375"/>
            <a:ext cx="2428875" cy="714375"/>
          </a:xfrm>
          <a:prstGeom prst="straightConnector1">
            <a:avLst/>
          </a:prstGeom>
          <a:ln w="19050">
            <a:solidFill>
              <a:srgbClr val="EC7016"/>
            </a:solidFill>
            <a:prstDash val="solid"/>
            <a:tailEnd type="triangle" w="sm" len="sm"/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3EFA60D-F5CD-4AC1-956A-2B6513B1D7CB}"/>
              </a:ext>
            </a:extLst>
          </p:cNvPr>
          <p:cNvSpPr>
            <a:spLocks noGrp="1"/>
          </p:cNvSpPr>
          <p:nvPr/>
        </p:nvSpPr>
        <p:spPr>
          <a:xfrm>
            <a:off x="3476625" y="5715000"/>
            <a:ext cx="6762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1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1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AI ranks valid actions. Deterministic policy gates capital movement.</a:t>
            </a:r>
          </a:p>
        </p:txBody>
      </p:sp>
    </p:spTree>
    <p:extLst>
      <p:ext uri="{BB962C8B-B14F-4D97-AF65-F5344CB8AC3E}">
        <p14:creationId xmlns:p14="http://schemas.microsoft.com/office/powerpoint/2010/main" val="1544549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3F1ADAB-7402-453B-A00C-8947D6EAA433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2" name="slide-7-title">
            <a:extLst>
              <a:ext uri="{FF2B5EF4-FFF2-40B4-BE49-F238E27FC236}">
                <a16:creationId xmlns:a16="http://schemas.microsoft.com/office/drawing/2014/main" id="{156E4B33-A415-4675-B27E-E7D027187680}"/>
              </a:ext>
            </a:extLst>
          </p:cNvPr>
          <p:cNvSpPr>
            <a:spLocks noGrp="1"/>
          </p:cNvSpPr>
          <p:nvPr/>
        </p:nvSpPr>
        <p:spPr>
          <a:xfrm>
            <a:off x="1095375" y="285750"/>
            <a:ext cx="100584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95250" tIns="0" rIns="95250" bIns="38100" anchor="b">
            <a:normAutofit/>
          </a:bodyPr>
          <a:lstStyle/>
          <a:p>
            <a:pPr algn="l">
              <a:def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Tech Stack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C505E69-757B-48C3-86C0-1465CB846615}"/>
              </a:ext>
            </a:extLst>
          </p:cNvPr>
          <p:cNvSpPr>
            <a:spLocks noGrp="1"/>
          </p:cNvSpPr>
          <p:nvPr/>
        </p:nvSpPr>
        <p:spPr>
          <a:xfrm>
            <a:off x="1190625" y="1895475"/>
            <a:ext cx="9963150" cy="0"/>
          </a:xfrm>
          <a:prstGeom prst="line">
            <a:avLst/>
          </a:prstGeom>
          <a:noFill/>
          <a:ln w="12668">
            <a:solidFill>
              <a:srgbClr val="8C8C8C"/>
            </a:solidFill>
            <a:prstDash val="solid"/>
          </a:ln>
        </p:spPr>
      </p:sp>
      <p:sp>
        <p:nvSpPr>
          <p:cNvPr id="4" name="slide-7-number">
            <a:extLst>
              <a:ext uri="{FF2B5EF4-FFF2-40B4-BE49-F238E27FC236}">
                <a16:creationId xmlns:a16="http://schemas.microsoft.com/office/drawing/2014/main" id="{E2A80F4A-D49B-485B-930D-5546DC17E984}"/>
              </a:ext>
            </a:extLst>
          </p:cNvPr>
          <p:cNvSpPr>
            <a:spLocks noGrp="1"/>
          </p:cNvSpPr>
          <p:nvPr/>
        </p:nvSpPr>
        <p:spPr>
          <a:xfrm>
            <a:off x="10953750" y="65055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4E2544-0C22-4B7B-81E0-BB63F6737904}"/>
              </a:ext>
            </a:extLst>
          </p:cNvPr>
          <p:cNvSpPr>
            <a:spLocks noGrp="1"/>
          </p:cNvSpPr>
          <p:nvPr/>
        </p:nvSpPr>
        <p:spPr>
          <a:xfrm>
            <a:off x="1190625" y="2190750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725" b="1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Proposed MVP implementation 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9BCCD8-0161-430E-934C-AF768F55BDA0}"/>
              </a:ext>
            </a:extLst>
          </p:cNvPr>
          <p:cNvSpPr>
            <a:spLocks noGrp="1"/>
          </p:cNvSpPr>
          <p:nvPr/>
        </p:nvSpPr>
        <p:spPr>
          <a:xfrm>
            <a:off x="1190625" y="2752725"/>
            <a:ext cx="66675" cy="428625"/>
          </a:xfrm>
          <a:prstGeom prst="rect">
            <a:avLst/>
          </a:prstGeom>
          <a:solidFill>
            <a:srgbClr val="EC7016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EB6E7-1133-405C-8338-157C535A4F55}"/>
              </a:ext>
            </a:extLst>
          </p:cNvPr>
          <p:cNvSpPr>
            <a:spLocks noGrp="1"/>
          </p:cNvSpPr>
          <p:nvPr/>
        </p:nvSpPr>
        <p:spPr>
          <a:xfrm>
            <a:off x="1476375" y="27146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Client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9D6D6-64E2-463A-B56C-C508C9A61ABE}"/>
              </a:ext>
            </a:extLst>
          </p:cNvPr>
          <p:cNvSpPr>
            <a:spLocks noGrp="1"/>
          </p:cNvSpPr>
          <p:nvPr/>
        </p:nvSpPr>
        <p:spPr>
          <a:xfrm>
            <a:off x="3333750" y="271462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React or Next.js, TypeScript, EVM wallet connection with viem or wagmi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BA5351-B71B-4C50-80F9-FDF6071ABEB9}"/>
              </a:ext>
            </a:extLst>
          </p:cNvPr>
          <p:cNvSpPr>
            <a:spLocks noGrp="1"/>
          </p:cNvSpPr>
          <p:nvPr/>
        </p:nvSpPr>
        <p:spPr>
          <a:xfrm>
            <a:off x="1190625" y="3305175"/>
            <a:ext cx="66675" cy="4286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746BD4-160A-46F2-9E39-979798129E26}"/>
              </a:ext>
            </a:extLst>
          </p:cNvPr>
          <p:cNvSpPr>
            <a:spLocks noGrp="1"/>
          </p:cNvSpPr>
          <p:nvPr/>
        </p:nvSpPr>
        <p:spPr>
          <a:xfrm>
            <a:off x="1476375" y="32670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Execution 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7F81B5-9067-401B-8048-FE5003BBF01C}"/>
              </a:ext>
            </a:extLst>
          </p:cNvPr>
          <p:cNvSpPr>
            <a:spLocks noGrp="1"/>
          </p:cNvSpPr>
          <p:nvPr/>
        </p:nvSpPr>
        <p:spPr>
          <a:xfrm>
            <a:off x="3333750" y="326707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Solidity vault and router contracts, protocol adapters, signed intents, allowlists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ADC604-BA79-4EBF-BA6D-386DB30F3ABC}"/>
              </a:ext>
            </a:extLst>
          </p:cNvPr>
          <p:cNvSpPr>
            <a:spLocks noGrp="1"/>
          </p:cNvSpPr>
          <p:nvPr/>
        </p:nvSpPr>
        <p:spPr>
          <a:xfrm>
            <a:off x="1190625" y="3857625"/>
            <a:ext cx="66675" cy="428625"/>
          </a:xfrm>
          <a:prstGeom prst="rect">
            <a:avLst/>
          </a:prstGeom>
          <a:solidFill>
            <a:srgbClr val="EC7016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5B6927-7404-494C-867D-3794282ADEC8}"/>
              </a:ext>
            </a:extLst>
          </p:cNvPr>
          <p:cNvSpPr>
            <a:spLocks noGrp="1"/>
          </p:cNvSpPr>
          <p:nvPr/>
        </p:nvSpPr>
        <p:spPr>
          <a:xfrm>
            <a:off x="1476375" y="38195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Services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5DC2A8-F775-4EA5-959A-F02E686C6F60}"/>
              </a:ext>
            </a:extLst>
          </p:cNvPr>
          <p:cNvSpPr>
            <a:spLocks noGrp="1"/>
          </p:cNvSpPr>
          <p:nvPr/>
        </p:nvSpPr>
        <p:spPr>
          <a:xfrm>
            <a:off x="3333750" y="381952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lang="en-IN" sz="1388" b="0" i="0" dirty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Convex Backend + </a:t>
            </a:r>
            <a:r>
              <a:rPr sz="1388" b="0" i="0" dirty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Python API and orchestration services, solver scoring, WebSocket position updates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63BF60-50A2-4E92-9CAC-034B01BA0587}"/>
              </a:ext>
            </a:extLst>
          </p:cNvPr>
          <p:cNvSpPr>
            <a:spLocks noGrp="1"/>
          </p:cNvSpPr>
          <p:nvPr/>
        </p:nvSpPr>
        <p:spPr>
          <a:xfrm>
            <a:off x="1190625" y="4410075"/>
            <a:ext cx="66675" cy="4286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1DAED2-2B3B-4419-9C11-64A795871CB6}"/>
              </a:ext>
            </a:extLst>
          </p:cNvPr>
          <p:cNvSpPr>
            <a:spLocks noGrp="1"/>
          </p:cNvSpPr>
          <p:nvPr/>
        </p:nvSpPr>
        <p:spPr>
          <a:xfrm>
            <a:off x="1476375" y="43719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AB3360-4126-4423-B348-FE1733CACFBE}"/>
              </a:ext>
            </a:extLst>
          </p:cNvPr>
          <p:cNvSpPr>
            <a:spLocks noGrp="1"/>
          </p:cNvSpPr>
          <p:nvPr/>
        </p:nvSpPr>
        <p:spPr>
          <a:xfrm>
            <a:off x="3333750" y="437197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lang="en-IN" sz="1388" b="0" i="0" dirty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Convex + </a:t>
            </a:r>
            <a:r>
              <a:rPr sz="1388" b="0" i="0" dirty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PostgreSQL for strategy state, Redis for queues and short-lived coordination, event history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A075A0-8843-43AE-96A0-422CDF5158D4}"/>
              </a:ext>
            </a:extLst>
          </p:cNvPr>
          <p:cNvSpPr>
            <a:spLocks noGrp="1"/>
          </p:cNvSpPr>
          <p:nvPr/>
        </p:nvSpPr>
        <p:spPr>
          <a:xfrm>
            <a:off x="1190625" y="4962525"/>
            <a:ext cx="66675" cy="428625"/>
          </a:xfrm>
          <a:prstGeom prst="rect">
            <a:avLst/>
          </a:prstGeom>
          <a:solidFill>
            <a:srgbClr val="EC7016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ECC602-F7CC-4566-ACDB-51E8C2B5D78D}"/>
              </a:ext>
            </a:extLst>
          </p:cNvPr>
          <p:cNvSpPr>
            <a:spLocks noGrp="1"/>
          </p:cNvSpPr>
          <p:nvPr/>
        </p:nvSpPr>
        <p:spPr>
          <a:xfrm>
            <a:off x="1476375" y="49244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Risk and AI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245D01-8E31-476B-9F7E-18B41C14DEE8}"/>
              </a:ext>
            </a:extLst>
          </p:cNvPr>
          <p:cNvSpPr>
            <a:spLocks noGrp="1"/>
          </p:cNvSpPr>
          <p:nvPr/>
        </p:nvSpPr>
        <p:spPr>
          <a:xfrm>
            <a:off x="3333750" y="492442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Python scenario engine, deterministic health and delta calculations, predictive models, explainable output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FA2725-815B-45B0-8321-6CF1A5B92500}"/>
              </a:ext>
            </a:extLst>
          </p:cNvPr>
          <p:cNvSpPr>
            <a:spLocks noGrp="1"/>
          </p:cNvSpPr>
          <p:nvPr/>
        </p:nvSpPr>
        <p:spPr>
          <a:xfrm>
            <a:off x="1190625" y="5514975"/>
            <a:ext cx="66675" cy="428625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F6C982-CDDF-4117-B272-1B26C4E39CD8}"/>
              </a:ext>
            </a:extLst>
          </p:cNvPr>
          <p:cNvSpPr>
            <a:spLocks noGrp="1"/>
          </p:cNvSpPr>
          <p:nvPr/>
        </p:nvSpPr>
        <p:spPr>
          <a:xfrm>
            <a:off x="1476375" y="54768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00" b="1" i="0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Security surface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9ED85B-BFA8-40C3-9C17-7ED8F25B6168}"/>
              </a:ext>
            </a:extLst>
          </p:cNvPr>
          <p:cNvSpPr>
            <a:spLocks noGrp="1"/>
          </p:cNvSpPr>
          <p:nvPr/>
        </p:nvSpPr>
        <p:spPr>
          <a:xfrm>
            <a:off x="3333750" y="547687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0" i="0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Audited contracts, bounded permissions, replay protection, oracle and bridge fallbacks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94193EBD-3267-492E-A30A-A2FC616678C6}"/>
              </a:ext>
            </a:extLst>
          </p:cNvPr>
          <p:cNvSpPr>
            <a:spLocks noGrp="1"/>
          </p:cNvSpPr>
          <p:nvPr/>
        </p:nvSpPr>
        <p:spPr>
          <a:xfrm>
            <a:off x="1190625" y="6029325"/>
            <a:ext cx="9667875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9F9E32-876C-4DDC-8083-3BBDE2BEC696}"/>
              </a:ext>
            </a:extLst>
          </p:cNvPr>
          <p:cNvSpPr>
            <a:spLocks noGrp="1"/>
          </p:cNvSpPr>
          <p:nvPr/>
        </p:nvSpPr>
        <p:spPr>
          <a:xfrm>
            <a:off x="1190625" y="6115050"/>
            <a:ext cx="952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63" b="0" i="1">
                <a:solidFill>
                  <a:srgbClr val="6B6B6B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163" b="0" i="1">
                <a:solidFill>
                  <a:srgbClr val="6B6B6B"/>
                </a:solidFill>
                <a:latin typeface="Franklin Gothic Book"/>
                <a:ea typeface="Franklin Gothic Book"/>
                <a:cs typeface="Franklin Gothic Book"/>
              </a:rPr>
              <a:t>The brief defines the product architecture, so this slide separates proposed implementation choices from product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470462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A88EA9-FA5D-4186-8666-A662896DEB43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2" name="slide-8-title">
            <a:extLst>
              <a:ext uri="{FF2B5EF4-FFF2-40B4-BE49-F238E27FC236}">
                <a16:creationId xmlns:a16="http://schemas.microsoft.com/office/drawing/2014/main" id="{ABF4BC6D-2D80-421F-B57C-6FC6AEDF912D}"/>
              </a:ext>
            </a:extLst>
          </p:cNvPr>
          <p:cNvSpPr>
            <a:spLocks noGrp="1"/>
          </p:cNvSpPr>
          <p:nvPr/>
        </p:nvSpPr>
        <p:spPr>
          <a:xfrm>
            <a:off x="1095375" y="285750"/>
            <a:ext cx="100584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95250" tIns="0" rIns="95250" bIns="38100" anchor="b">
            <a:normAutofit/>
          </a:bodyPr>
          <a:lstStyle/>
          <a:p>
            <a:pPr algn="l">
              <a:def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Impact &amp; Feasibility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D04131A-C2A6-446B-907E-AF9249BC756E}"/>
              </a:ext>
            </a:extLst>
          </p:cNvPr>
          <p:cNvSpPr>
            <a:spLocks noGrp="1"/>
          </p:cNvSpPr>
          <p:nvPr/>
        </p:nvSpPr>
        <p:spPr>
          <a:xfrm>
            <a:off x="1190625" y="1895475"/>
            <a:ext cx="9963150" cy="0"/>
          </a:xfrm>
          <a:prstGeom prst="line">
            <a:avLst/>
          </a:prstGeom>
          <a:noFill/>
          <a:ln w="12668">
            <a:solidFill>
              <a:srgbClr val="8C8C8C"/>
            </a:solidFill>
            <a:prstDash val="solid"/>
          </a:ln>
        </p:spPr>
      </p:sp>
      <p:sp>
        <p:nvSpPr>
          <p:cNvPr id="4" name="slide-8-number">
            <a:extLst>
              <a:ext uri="{FF2B5EF4-FFF2-40B4-BE49-F238E27FC236}">
                <a16:creationId xmlns:a16="http://schemas.microsoft.com/office/drawing/2014/main" id="{127442E5-E707-476A-A076-37E73F2ECB6D}"/>
              </a:ext>
            </a:extLst>
          </p:cNvPr>
          <p:cNvSpPr>
            <a:spLocks noGrp="1"/>
          </p:cNvSpPr>
          <p:nvPr/>
        </p:nvSpPr>
        <p:spPr>
          <a:xfrm>
            <a:off x="10953750" y="65055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2F2CAE-39D0-47CB-B53D-391AC978B7A6}"/>
              </a:ext>
            </a:extLst>
          </p:cNvPr>
          <p:cNvSpPr>
            <a:spLocks noGrp="1"/>
          </p:cNvSpPr>
          <p:nvPr/>
        </p:nvSpPr>
        <p:spPr>
          <a:xfrm>
            <a:off x="1190625" y="2238375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05" lnSpcReduction="10000"/>
          </a:bodyPr>
          <a:lstStyle/>
          <a:p>
            <a:pPr algn="l">
              <a:defRPr sz="285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85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Impact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6D9CF-6653-4D96-A7E2-2A5800DCA429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05" lnSpcReduction="10000"/>
          </a:bodyPr>
          <a:lstStyle/>
          <a:p>
            <a:pPr algn="l">
              <a:defRPr sz="285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85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Feasibility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0680C60-6D21-4AA0-89E4-87454B4D02AC}"/>
              </a:ext>
            </a:extLst>
          </p:cNvPr>
          <p:cNvSpPr>
            <a:spLocks noGrp="1"/>
          </p:cNvSpPr>
          <p:nvPr/>
        </p:nvSpPr>
        <p:spPr>
          <a:xfrm>
            <a:off x="6096000" y="2190750"/>
            <a:ext cx="0" cy="3381375"/>
          </a:xfrm>
          <a:prstGeom prst="line">
            <a:avLst/>
          </a:prstGeom>
          <a:noFill/>
          <a:ln w="10478">
            <a:solidFill>
              <a:srgbClr val="8C8C8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ACB438-0DBE-4FAD-92DF-4C7BE1FA2486}"/>
              </a:ext>
            </a:extLst>
          </p:cNvPr>
          <p:cNvSpPr>
            <a:spLocks noGrp="1"/>
          </p:cNvSpPr>
          <p:nvPr/>
        </p:nvSpPr>
        <p:spPr>
          <a:xfrm>
            <a:off x="1190625" y="2952750"/>
            <a:ext cx="4476750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5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Active DeFi users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Fewer manual handoffs and earlier risk response.</a:t>
            </a:r>
          </a:p>
          <a:p>
            <a:pPr algn="l">
              <a:spcAft>
                <a:spcPts val="65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Liquidity providers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Concentrated liquidity with delta and range controls.</a:t>
            </a:r>
          </a:p>
          <a:p>
            <a:pPr algn="l">
              <a:spcAft>
                <a:spcPts val="65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Treasuries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Policy-based deployment across chains and protocols.</a:t>
            </a:r>
          </a:p>
          <a:p>
            <a:pPr algn="l"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Ecosystem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Better route competition and fewer avoidable liquidations.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6588A5-E4DC-4DE1-94F4-A462B3F3C6B2}"/>
              </a:ext>
            </a:extLst>
          </p:cNvPr>
          <p:cNvSpPr>
            <a:spLocks noGrp="1"/>
          </p:cNvSpPr>
          <p:nvPr/>
        </p:nvSpPr>
        <p:spPr>
          <a:xfrm>
            <a:off x="6667500" y="2952750"/>
            <a:ext cx="4238625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5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Start narrow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One EVM route, one lending market, one AMM.</a:t>
            </a:r>
          </a:p>
          <a:p>
            <a:pPr algn="l">
              <a:spcAft>
                <a:spcPts val="65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Keep policy deterministic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AI can rank actions, but limits remain explicit.</a:t>
            </a:r>
          </a:p>
          <a:p>
            <a:pPr algn="l">
              <a:spcAft>
                <a:spcPts val="65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Simulate the hard parts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Demonstrate unsupported protocols and stress events in a controlled environment.</a:t>
            </a:r>
          </a:p>
          <a:p>
            <a:pPr algn="l"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Potential model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Execution or solver fee, with premium analytics and optional insurance later.</a:t>
            </a:r>
          </a:p>
        </p:txBody>
      </p:sp>
    </p:spTree>
    <p:extLst>
      <p:ext uri="{BB962C8B-B14F-4D97-AF65-F5344CB8AC3E}">
        <p14:creationId xmlns:p14="http://schemas.microsoft.com/office/powerpoint/2010/main" val="204559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2E79878-8BB9-42FC-A0E2-48A9D8C962DC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52525"/>
          </a:solidFill>
          <a:ln w="0">
            <a:noFill/>
          </a:ln>
        </p:spPr>
      </p:sp>
      <p:sp>
        <p:nvSpPr>
          <p:cNvPr id="2" name="slide-9-title">
            <a:extLst>
              <a:ext uri="{FF2B5EF4-FFF2-40B4-BE49-F238E27FC236}">
                <a16:creationId xmlns:a16="http://schemas.microsoft.com/office/drawing/2014/main" id="{824BDFE5-C386-4AA4-8828-D1A2E11979F6}"/>
              </a:ext>
            </a:extLst>
          </p:cNvPr>
          <p:cNvSpPr>
            <a:spLocks noGrp="1"/>
          </p:cNvSpPr>
          <p:nvPr/>
        </p:nvSpPr>
        <p:spPr>
          <a:xfrm>
            <a:off x="1095375" y="285750"/>
            <a:ext cx="100584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95250" tIns="0" rIns="95250" bIns="38100" anchor="b">
            <a:normAutofit/>
          </a:bodyPr>
          <a:lstStyle/>
          <a:p>
            <a:pPr algn="l">
              <a:def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470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Challenges &amp; Future Scope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3315FAD-2CE1-4291-982B-8E31BD2D2A30}"/>
              </a:ext>
            </a:extLst>
          </p:cNvPr>
          <p:cNvSpPr>
            <a:spLocks noGrp="1"/>
          </p:cNvSpPr>
          <p:nvPr/>
        </p:nvSpPr>
        <p:spPr>
          <a:xfrm>
            <a:off x="1190625" y="1895475"/>
            <a:ext cx="9963150" cy="0"/>
          </a:xfrm>
          <a:prstGeom prst="line">
            <a:avLst/>
          </a:prstGeom>
          <a:noFill/>
          <a:ln w="12668">
            <a:solidFill>
              <a:srgbClr val="8C8C8C"/>
            </a:solidFill>
            <a:prstDash val="solid"/>
          </a:ln>
        </p:spPr>
      </p:sp>
      <p:sp>
        <p:nvSpPr>
          <p:cNvPr id="4" name="slide-9-number">
            <a:extLst>
              <a:ext uri="{FF2B5EF4-FFF2-40B4-BE49-F238E27FC236}">
                <a16:creationId xmlns:a16="http://schemas.microsoft.com/office/drawing/2014/main" id="{333BE951-1AE1-4C77-A883-8D5A689D8E0D}"/>
              </a:ext>
            </a:extLst>
          </p:cNvPr>
          <p:cNvSpPr>
            <a:spLocks noGrp="1"/>
          </p:cNvSpPr>
          <p:nvPr/>
        </p:nvSpPr>
        <p:spPr>
          <a:xfrm>
            <a:off x="10953750" y="6505575"/>
            <a:ext cx="523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 i="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7D3790-F528-469E-A02D-E990AF6F5755}"/>
              </a:ext>
            </a:extLst>
          </p:cNvPr>
          <p:cNvSpPr>
            <a:spLocks noGrp="1"/>
          </p:cNvSpPr>
          <p:nvPr/>
        </p:nvSpPr>
        <p:spPr>
          <a:xfrm>
            <a:off x="1190625" y="223837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05" lnSpcReduction="10000"/>
          </a:bodyPr>
          <a:lstStyle/>
          <a:p>
            <a:pPr algn="l">
              <a:defRPr sz="285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85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Challenges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C3283E-DD08-4517-B412-B6BA5AD93D74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05" lnSpcReduction="10000"/>
          </a:bodyPr>
          <a:lstStyle/>
          <a:p>
            <a:pPr algn="l">
              <a:defRPr sz="285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850" b="0" i="0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</a:rPr>
              <a:t>Future scope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529C5F5-9CE4-495B-8657-D6D694A45971}"/>
              </a:ext>
            </a:extLst>
          </p:cNvPr>
          <p:cNvSpPr>
            <a:spLocks noGrp="1"/>
          </p:cNvSpPr>
          <p:nvPr/>
        </p:nvSpPr>
        <p:spPr>
          <a:xfrm>
            <a:off x="6096000" y="2190750"/>
            <a:ext cx="0" cy="3381375"/>
          </a:xfrm>
          <a:prstGeom prst="line">
            <a:avLst/>
          </a:prstGeom>
          <a:noFill/>
          <a:ln w="10478">
            <a:solidFill>
              <a:srgbClr val="8C8C8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32B58E-09E4-4241-B8C6-EE5F7FB45687}"/>
              </a:ext>
            </a:extLst>
          </p:cNvPr>
          <p:cNvSpPr>
            <a:spLocks noGrp="1"/>
          </p:cNvSpPr>
          <p:nvPr/>
        </p:nvSpPr>
        <p:spPr>
          <a:xfrm>
            <a:off x="1190625" y="2952750"/>
            <a:ext cx="4476750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0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Cross-chain state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Pending, failed, and recovery states must remain visible.</a:t>
            </a:r>
          </a:p>
          <a:p>
            <a:pPr algn="l">
              <a:spcAft>
                <a:spcPts val="60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Risk uncertainty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Predictions can be wrong and rescue is not guaranteed in extreme markets.</a:t>
            </a:r>
          </a:p>
          <a:p>
            <a:pPr algn="l">
              <a:spcAft>
                <a:spcPts val="60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Security surface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Contracts, oracles, bridges, and adapters need audits and fallbacks.</a:t>
            </a:r>
          </a:p>
          <a:p>
            <a:pPr algn="l"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Privacy trade-offs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Reduce information leakage without blocking validation or recovery.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8E4E2F-9CA5-4704-ABCE-08F1D6B6E68C}"/>
              </a:ext>
            </a:extLst>
          </p:cNvPr>
          <p:cNvSpPr>
            <a:spLocks noGrp="1"/>
          </p:cNvSpPr>
          <p:nvPr/>
        </p:nvSpPr>
        <p:spPr>
          <a:xfrm>
            <a:off x="6667500" y="2952750"/>
            <a:ext cx="4238625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0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More markets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Additional chains, protocols, derivatives, and collateral types.</a:t>
            </a:r>
          </a:p>
          <a:p>
            <a:pPr algn="l">
              <a:spcAft>
                <a:spcPts val="60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Stronger privacy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Richer ZK authorization and strategy confidentiality.</a:t>
            </a:r>
          </a:p>
          <a:p>
            <a:pPr algn="l">
              <a:spcAft>
                <a:spcPts val="600"/>
              </a:spcAft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Institutional controls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Treasury policies, permissions, reporting, and multi-intent portfolios.</a:t>
            </a:r>
          </a:p>
          <a:p>
            <a:pPr algn="l">
              <a:def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88" b="1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Systemic protection</a:t>
            </a:r>
            <a:r>
              <a:rPr sz="1388">
                <a:solidFill>
                  <a:srgbClr val="454545"/>
                </a:solidFill>
                <a:latin typeface="Franklin Gothic Book"/>
                <a:ea typeface="Franklin Gothic Book"/>
                <a:cs typeface="Franklin Gothic Book"/>
              </a:rPr>
              <a:t>  Protocol-level insurance and broader cascade-risk simulation.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A7CDBC6-6DD4-4E09-93DC-66FDF6A550AC}"/>
              </a:ext>
            </a:extLst>
          </p:cNvPr>
          <p:cNvSpPr>
            <a:spLocks noGrp="1"/>
          </p:cNvSpPr>
          <p:nvPr/>
        </p:nvSpPr>
        <p:spPr>
          <a:xfrm>
            <a:off x="1190625" y="5953125"/>
            <a:ext cx="9667875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FA2918-5EE2-4794-AF75-AC29AD35323F}"/>
              </a:ext>
            </a:extLst>
          </p:cNvPr>
          <p:cNvSpPr>
            <a:spLocks noGrp="1"/>
          </p:cNvSpPr>
          <p:nvPr/>
        </p:nvSpPr>
        <p:spPr>
          <a:xfrm>
            <a:off x="1190625" y="609600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1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50" b="0" i="1">
                <a:solidFill>
                  <a:srgbClr val="EC7016"/>
                </a:solidFill>
                <a:latin typeface="Franklin Gothic Book"/>
                <a:ea typeface="Franklin Gothic Book"/>
                <a:cs typeface="Franklin Gothic Book"/>
              </a:rPr>
              <a:t>Product boundary: autonomous management inside explicit user limits.</a:t>
            </a:r>
          </a:p>
        </p:txBody>
      </p:sp>
    </p:spTree>
    <p:extLst>
      <p:ext uri="{BB962C8B-B14F-4D97-AF65-F5344CB8AC3E}">
        <p14:creationId xmlns:p14="http://schemas.microsoft.com/office/powerpoint/2010/main" val="15539645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DocSecurity>0</DocSecurity>
  <PresentationFormat>Widescreen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Bookman Old Style</vt:lpstr>
      <vt:lpstr>Calibri</vt:lpstr>
      <vt:lpstr>Franklin Gothic Book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Neeraj Sathish Kumar</cp:lastModifiedBy>
  <cp:revision>2</cp:revision>
  <dcterms:created xsi:type="dcterms:W3CDTF">2026-09-16T09:58:38Z</dcterms:created>
  <dcterms:modified xsi:type="dcterms:W3CDTF">2026-09-16T10:04:15Z</dcterms:modified>
</cp:coreProperties>
</file>